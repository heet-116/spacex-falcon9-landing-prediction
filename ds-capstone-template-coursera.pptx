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82B49"/>
                </a:solidFill>
                <a:latin typeface="Calibri"/>
              </a:defRPr>
            </a:pPr>
            <a:r>
              <a:t>SpaceX Falcon 9 First Stage Landing Prediction</a:t>
            </a:r>
          </a:p>
          <a:p>
            <a:pPr>
              <a:spcAft>
                <a:spcPts val="2400"/>
              </a:spcAft>
              <a:defRPr sz="2000">
                <a:solidFill>
                  <a:srgbClr val="2980B9"/>
                </a:solidFill>
                <a:latin typeface="Calibri"/>
              </a:defRPr>
            </a:pPr>
            <a:r>
              <a:t>End-to-End Data Science &amp; Machine Learning Capstone Report</a:t>
            </a:r>
          </a:p>
          <a:p>
            <a:pPr>
              <a:spcAft>
                <a:spcPts val="4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Author: Heet Patel | IBM Data Science Professional Certificate</a:t>
            </a:r>
          </a:p>
          <a:p>
            <a:pPr>
              <a:spcAft>
                <a:spcPts val="800"/>
              </a:spcAft>
              <a:defRPr sz="1300">
                <a:solidFill>
                  <a:srgbClr val="7F8C8D"/>
                </a:solidFill>
                <a:latin typeface="Calibri"/>
              </a:defRPr>
            </a:pPr>
            <a:r>
              <a:t>Date: October 2026 | Submission Format: PDF &amp; Python/Jupyter Deliverables</a:t>
            </a:r>
          </a:p>
          <a:p>
            <a:pPr>
              <a:defRPr sz="1300" b="1">
                <a:solidFill>
                  <a:srgbClr val="27AE60"/>
                </a:solidFill>
                <a:latin typeface="Calibri"/>
              </a:defRPr>
            </a:pPr>
            <a:r>
              <a:t>GitHub Repository: https://github.com/Heet-116/SpaceX-Falcon9-Landing-Prediction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wrap="square">
            <a:norm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Project Overview &amp; Foundations</a:t>
            </a:r>
            <a:endParaRPr lang="en-US"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1. Executive Summary: Core findings, pipeline summary, and commercial takeaways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2. Introduction &amp; Background: Reusable rocketry economics and research questions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Methodologies &amp; Technical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3. Data Collection &amp; Wrangling: SpaceX REST API, Wikipedia scraping, and data cleaning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4. Exploratory Data Analysis: Data visualization (Matplotlib/Seaborn) and SQL querying (SQLite)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5. Interactive Analytics: Folium geospatial mapping and Plotly Dash dynamic web dashboard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6. Predictive Modeling: Classification algorithms, hyperparameter tuning, and model evaluation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Results, Conclusions &amp; Appendix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7. Complete Results: Visualizations, SQL outputs, interactive maps, and ML confusion matrix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8. Conclusions &amp; Business Impact: Competitive launch bidding and commercial strategy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9. Appendix: Data dictionary, technology stack, and verified GitHub repository code links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Project Overview &amp; Foundations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1. Executive Summary: Core findings, pipeline summary, and commercial takeaways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2. Introduction &amp; Background: Reusable rocketry economics and research questions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Methodologies &amp; Technical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3. Data Collection &amp; Wrangling: SpaceX REST API, Wikipedia scraping, and data cleaning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4. Exploratory Data Analysis: Data visualization (Matplotlib/Seaborn) and SQL querying (SQLite)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5. Interactive Analytics: Folium geospatial mapping and Plotly Dash dynamic web dashboard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6. Predictive Modeling: Classification algorithms, hyperparameter tuning, and model evaluation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Results, Conclusions &amp; Appendix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7. Complete Results: Visualizations, SQL outputs, interactive maps, and ML confusion matrix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8. Conclusions &amp; Business Impact: Competitive launch bidding and commercial strategy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9. Appendix: Data dictionary, technology stack, and verified GitHub repository code links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Project Overview &amp; Foundations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1. Executive Summary: Core findings, pipeline summary, and commercial takeaways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2. Introduction &amp; Background: Reusable rocketry economics and research questions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Methodologies &amp; Technical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3. Data Collection &amp; Wrangling: SpaceX REST API, Wikipedia scraping, and data cleaning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4. Exploratory Data Analysis: Data visualization (Matplotlib/Seaborn) and SQL querying (SQLite)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5. Interactive Analytics: Folium geospatial mapping and Plotly Dash dynamic web dashboard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6. Predictive Modeling: Classification algorithms, hyperparameter tuning, and model evaluation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Results, Conclusions &amp; Appendix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7. Complete Results: Visualizations, SQL outputs, interactive maps, and ML confusion matrix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8. Conclusions &amp; Business Impact: Competitive launch bidding and commercial strategy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9. Appendix: Data dictionary, technology stack, and verified GitHub repository code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Project Overview &amp; Foundations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1. Executive Summary: Core findings, pipeline summary, and commercial takeaways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2. Introduction &amp; Background: Reusable rocketry economics and research questions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Methodologies &amp; Technical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3. Data Collection &amp; Wrangling: SpaceX REST API, Wikipedia scraping, and data cleaning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4. Exploratory Data Analysis: Data visualization (Matplotlib/Seaborn) and SQL querying (SQLite)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5. Interactive Analytics: Folium geospatial mapping and Plotly Dash dynamic web dashboard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6. Predictive Modeling: Classification algorithms, hyperparameter tuning, and model evaluation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Results, Conclusions &amp; Appendix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7. Complete Results: Visualizations, SQL outputs, interactive maps, and ML confusion matrix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8. Conclusions &amp; Business Impact: Competitive launch bidding and commercial strategy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9. Appendix: Data dictionary, technology stack, and verified GitHub repository code links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anchor="ctr" wrap="square">
            <a:norm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Methodologies</a:t>
            </a:r>
            <a:endParaRPr lang="en-US" dirty="0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Collection &amp; Processing: Ingested 90 Falcon 9 launches via SpaceX REST API v4 and historical Wikipedia web scraping using BeautifulSoup. Cleaned null payload records with mean imputation (6,105 kg) and engineered a binary 'Class' landing target (1 = Success, 0 =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Exploratory Data Analysis: Analyzed relationships between payload, orbit, flight number, and launch site; executed 10 structured SQL queries in SQLite to isolate operational milestones, payloads, and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Analytics: Built Folium maps with marker clusters and Haversine proximity calculations to coastal/transport infrastructure; engineered a responsive Plotly Dash dashboard with payload range sliders and site dropdowns.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Machine Learning: Standardized 83 features via StandardScaler; trained 4 classification models (Logistic Regression, SVM, Decision Tree, KNN) optimized using 10-fold cross-validation GridSearchCV.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Key Results &amp; Commercial Takeaways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Landing Success Rate: 66.7% across all 90 launches; success escalated from 0% (2010–2012) to &gt;80% (2018–2020) driven by Falcon 9 Block 5 reusability advancements.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Top Launch Site: KSC LC-39A achieved the highest success rate (76.9%) and contributed 41.7% of all successful first-stage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Accuracy: All 4 machine learning models achieved 83.33% Test Accuracy. The models delivered 100% Recall for successful landings (0 False Negatives), preventing premature disposal of recoverable boosters.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Business Impact: Enables commercial satellite operators and competitor launch providers to predict SpaceX booster recovery with high confidence, informing competitive pricing against SpaceX's $62M launch rate.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Methodologies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Collection &amp; Processing: Ingested 90 Falcon 9 launches via SpaceX REST API v4 and historical Wikipedia web scraping using BeautifulSoup. Cleaned null payload records with mean imputation (6,105 kg) and engineered a binary 'Class' landing target (1 = Success, 0 =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Exploratory Data Analysis: Analyzed relationships between payload, orbit, flight number, and launch site; executed 10 structured SQL queries in SQLite to isolate operational milestones, payloads, and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Analytics: Built Folium maps with marker clusters and Haversine proximity calculations to coastal/transport infrastructure; engineered a responsive Plotly Dash dashboard with payload range sliders and site dropdowns.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Machine Learning: Standardized 83 features via StandardScaler; trained 4 classification models (Logistic Regression, SVM, Decision Tree, KNN) optimized using 10-fold cross-validation GridSearchCV.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Key Results &amp; Commercial Takeaways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Landing Success Rate: 66.7% across all 90 launches; success escalated from 0% (2010–2012) to &gt;80% (2018–2020) driven by Falcon 9 Block 5 reusability advancements.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Top Launch Site: KSC LC-39A achieved the highest success rate (76.9%) and contributed 41.7% of all successful first-stage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Accuracy: All 4 machine learning models achieved 83.33% Test Accuracy. The models delivered 100% Recall for successful landings (0 False Negatives), preventing premature disposal of recoverable boosters.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Business Impact: Enables commercial satellite operators and competitor launch providers to predict SpaceX booster recovery with high confidence, informing competitive pricing against SpaceX's $62M launch rate.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Methodologies</a:t>
            </a:r>
            <a:endParaRPr lang="en-US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Collection &amp; Processing: Ingested 90 Falcon 9 launches via SpaceX REST API v4 and historical Wikipedia web scraping using BeautifulSoup. Cleaned null payload records with mean imputation (6,105 kg) and engineered a binary 'Class' landing target (1 = Success, 0 =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Exploratory Data Analysis: Analyzed relationships between payload, orbit, flight number, and launch site; executed 10 structured SQL queries in SQLite to isolate operational milestones, payloads, and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Analytics: Built Folium maps with marker clusters and Haversine proximity calculations to coastal/transport infrastructure; engineered a responsive Plotly Dash dashboard with payload range sliders and site dropdowns.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Machine Learning: Standardized 83 features via StandardScaler; trained 4 classification models (Logistic Regression, SVM, Decision Tree, KNN) optimized using 10-fold cross-validation GridSearchCV.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Key Results &amp; Commercial Takeaways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Landing Success Rate: 66.7% across all 90 launches; success escalated from 0% (2010–2012) to &gt;80% (2018–2020) driven by Falcon 9 Block 5 reusability advancements.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Top Launch Site: KSC LC-39A achieved the highest success rate (76.9%) and contributed 41.7% of all successful first-stage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Accuracy: All 4 machine learning models achieved 83.33% Test Accuracy. The models delivered 100% Recall for successful landings (0 False Negatives), preventing premature disposal of recoverable boosters.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Business Impact: Enables commercial satellite operators and competitor launch providers to predict SpaceX booster recovery with high confidence, informing competitive pricing against SpaceX's $62M launch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Methodologies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Collection &amp; Processing: Ingested 90 Falcon 9 launches via SpaceX REST API v4 and historical Wikipedia web scraping using BeautifulSoup. Cleaned null payload records with mean imputation (6,105 kg) and engineered a binary 'Class' landing target (1 = Success, 0 =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Exploratory Data Analysis: Analyzed relationships between payload, orbit, flight number, and launch site; executed 10 structured SQL queries in SQLite to isolate operational milestones, payloads, and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Analytics: Built Folium maps with marker clusters and Haversine proximity calculations to coastal/transport infrastructure; engineered a responsive Plotly Dash dashboard with payload range sliders and site dropdowns.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Machine Learning: Standardized 83 features via StandardScaler; trained 4 classification models (Logistic Regression, SVM, Decision Tree, KNN) optimized using 10-fold cross-validation GridSearchCV.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Summary of Key Results &amp; Commercial Takeaways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Landing Success Rate: 66.7% across all 90 launches; success escalated from 0% (2010–2012) to &gt;80% (2018–2020) driven by Falcon 9 Block 5 reusability advancements.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Top Launch Site: KSC LC-39A achieved the highest success rate (76.9%) and contributed 41.7% of all successful first-stage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Accuracy: All 4 machine learning models achieved 83.33% Test Accuracy. The models delivered 100% Recall for successful landings (0 False Negatives), preventing premature disposal of recoverable boosters.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Business Impact: Enables commercial satellite operators and competitor launch providers to predict SpaceX booster recovery with high confidence, informing competitive pricing against SpaceX's $62M launch rate.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anchor="ctr" wrap="square">
            <a:norm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Project Background &amp; Commercial Context</a:t>
            </a:r>
            <a:endParaRPr lang="en-US" dirty="0"/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SpaceX Revolution: SpaceX has drastically reduced orbital launch costs by mastering first-stage booster recovery and reuse.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Economic Asymmetry: Competitor launch providers (e.g., ULA, Arianespace, Roscosmos) operate expendable rockets costing upwards of $165M+ per launch, whereas SpaceX advertises Falcon 9 launches at approximately $62M.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Value of Recovery: The first-stage booster represents ~70% of total rocket manufacturing cost. Reusing boosters multiple times amortizes production capital and yields unprecedented commercial margins.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Core Research Questions to Answer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1. Determinants of Recovery: How do payload mass, target orbital profile, launch site geography, and booster flight cadence influence landing success?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2. Geospatial Patterns: Why are launch complexes positioned along specific coastlines, and how do distances to transport and cities affect operational safety?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3. Machine Learning Viability: Can supervised classification models accurately forecast landing outcomes for future launches prior to liftoff?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4. Strategic Bidding Utility: How can competitor launch providers utilize these predictive models to formulate competitive bids against SpaceX contracts?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Project Background &amp; Commercial Context</a:t>
            </a:r>
            <a:endParaRPr lang="en-US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SpaceX Revolution: SpaceX has drastically reduced orbital launch costs by mastering first-stage booster recovery and reuse.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Economic Asymmetry: Competitor launch providers (e.g., ULA, Arianespace, Roscosmos) operate expendable rockets costing upwards of $165M+ per launch, whereas SpaceX advertises Falcon 9 launches at approximately $62M.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Value of Recovery: The first-stage booster represents ~70% of total rocket manufacturing cost. Reusing boosters multiple times amortizes production capital and yields unprecedented commercial margins.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Core Research Questions to Answer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1. Determinants of Recovery: How do payload mass, target orbital profile, launch site geography, and booster flight cadence influence landing success?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2. Geospatial Patterns: Why are launch complexes positioned along specific coastlines, and how do distances to transport and cities affect operational safety?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3. Machine Learning Viability: Can supervised classification models accurately forecast landing outcomes for future launches prior to liftoff?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4. Strategic Bidding Utility: How can competitor launch providers utilize these predictive models to formulate competitive bids against SpaceX contracts?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Project Background &amp; Commercial Context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SpaceX Revolution: SpaceX has drastically reduced orbital launch costs by mastering first-stage booster recovery and reuse.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Economic Asymmetry: Competitor launch providers (e.g., ULA, Arianespace, Roscosmos) operate expendable rockets costing upwards of $165M+ per launch, whereas SpaceX advertises Falcon 9 launches at approximately $62M.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Value of Recovery: The first-stage booster represents ~70% of total rocket manufacturing cost. Reusing boosters multiple times amortizes production capital and yields unprecedented commercial margins.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Core Research Questions to Answer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1. Determinants of Recovery: How do payload mass, target orbital profile, launch site geography, and booster flight cadence influence landing success?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2. Geospatial Patterns: Why are launch complexes positioned along specific coastlines, and how do distances to transport and cities affect operational safety?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3. Machine Learning Viability: Can supervised classification models accurately forecast landing outcomes for future launches prior to liftoff?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4. Strategic Bidding Utility: How can competitor launch providers utilize these predictive models to formulate competitive bids against SpaceX contracts?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Project Background &amp; Commercial Context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SpaceX Revolution: SpaceX has drastically reduced orbital launch costs by mastering first-stage booster recovery and reuse.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Economic Asymmetry: Competitor launch providers (e.g., ULA, Arianespace, Roscosmos) operate expendable rockets costing upwards of $165M+ per launch, whereas SpaceX advertises Falcon 9 launches at approximately $62M.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Value of Recovery: The first-stage booster represents ~70% of total rocket manufacturing cost. Reusing boosters multiple times amortizes production capital and yields unprecedented commercial margins.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50" b="1">
                <a:solidFill>
                  <a:srgbClr val="2980B9"/>
                </a:solidFill>
                <a:latin typeface="Calibri"/>
              </a:defRPr>
            </a:pPr>
            <a:r>
              <a:t>Core Research Questions to Answer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1. Determinants of Recovery: How do payload mass, target orbital profile, launch site geography, and booster flight cadence influence landing success?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2. Geospatial Patterns: Why are launch complexes positioned along specific coastlines, and how do distances to transport and cities affect operational safety?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3. Machine Learning Viability: Can supervised classification models accurately forecast landing outcomes for future launches prior to liftoff?</a:t>
            </a:r>
          </a:p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  <a:latin typeface="Calibri"/>
              </a:defRPr>
            </a:pPr>
            <a:r>
              <a:t>• 4. Strategic Bidding Utility: How can competitor launch providers utilize these predictive models to formulate competitive bids against SpaceX contracts?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1: Data Collection &amp; Ingestion</a:t>
            </a:r>
            <a:endParaRPr lang="en-US" dirty="0"/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Extracted 90+ rocket launch records via SpaceX REST API v4 (JSON) capturing cores, flight numbers, payload specs, and landing pads.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Scraped historical Falcon 9 launch logs from Wikipedia using BeautifulSoup to extract customers, dates, and mission outcomes.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2: Data Wrangling &amp; Feature Engineering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Identified missing payload values and imputed with mean (6,104.96 kg); mapped raw landing outcomes into binary classification target 'Class'.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Applied one-hot encoding on categorical features (Orbit, LaunchSite, LandingPad, Serial), expanding the feature space to 83 numerical columns.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3: Exploratory Data Analysis &amp; Relational Querying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Executed visualization analysis across payload, orbit, and temporal trends using Matplotlib and Seaborn.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Loaded datasets into SQLite database 'SPACEXTBL' and conducted 10 technical SQL queries for aggregated insights and historical milestones.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4: Interactive Visual Analytics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Constructed Folium interactive maps with marker clusters and Haversine distance proximity measurements to coastline, transport, and cities.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Engineered a dynamic Plotly Dash web dashboard featuring reactive dropdowns and payload range sliders for live slice-and-dice analytics.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5: Predictive Modeling &amp; Hyperparameter Tuning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Standardized features via StandardScaler; partitioned data into 80% Train and 20% Test sets (random_state=2).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Tuned Logistic Regression, SVM, Decision Tree, and KNN models using GridSearchCV with 10-fold cross validation; evaluated test accuracy and confusion matrix.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buNone/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1: Data Collection &amp; Ingestion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Extracted 90+ rocket launch records via SpaceX REST API v4 (JSON) capturing cores, flight numbers, payload specs, and landing pads.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Scraped historical Falcon 9 launch logs from Wikipedia using BeautifulSoup to extract customers, dates, and mission outcomes.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2: Data Wrangling &amp; Feature Engineering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Identified missing payload values and imputed with mean (6,104.96 kg); mapped raw landing outcomes into binary classification target 'Class'.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Applied one-hot encoding on categorical features (Orbit, LaunchSite, LandingPad, Serial), expanding the feature space to 83 numerical columns.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3: Exploratory Data Analysis &amp; Relational Querying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Executed visualization analysis across payload, orbit, and temporal trends using Matplotlib and Seaborn.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Loaded datasets into SQLite database 'SPACEXTBL' and conducted 10 technical SQL queries for aggregated insights and historical milestones.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4: Interactive Visual Analytics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Constructed Folium interactive maps with marker clusters and Haversine distance proximity measurements to coastline, transport, and cities.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Engineered a dynamic Plotly Dash web dashboard featuring reactive dropdowns and payload range sliders for live slice-and-dice analytics.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5: Predictive Modeling &amp; Hyperparameter Tuning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Standardized features via StandardScaler; partitioned data into 80% Train and 20% Test sets (random_state=2).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Tuned Logistic Regression, SVM, Decision Tree, and KNN models using GridSearchCV with 10-fold cross validation; evaluated test accuracy and confusion matrix.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1: Data Collection &amp; Ingestion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Extracted 90+ rocket launch records via SpaceX REST API v4 (JSON) capturing cores, flight numbers, payload specs, and landing pads.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Scraped historical Falcon 9 launch logs from Wikipedia using BeautifulSoup to extract customers, dates, and mission outcomes.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2: Data Wrangling &amp; Feature Engineering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Identified missing payload values and imputed with mean (6,104.96 kg); mapped raw landing outcomes into binary classification target 'Class'.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Applied one-hot encoding on categorical features (Orbit, LaunchSite, LandingPad, Serial), expanding the feature space to 83 numerical columns.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3: Exploratory Data Analysis &amp; Relational Querying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Executed visualization analysis across payload, orbit, and temporal trends using Matplotlib and Seaborn.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Loaded datasets into SQLite database 'SPACEXTBL' and conducted 10 technical SQL queries for aggregated insights and historical milestones.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4: Interactive Visual Analytics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Constructed Folium interactive maps with marker clusters and Haversine distance proximity measurements to coastline, transport, and cities.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Engineered a dynamic Plotly Dash web dashboard featuring reactive dropdowns and payload range sliders for live slice-and-dice analytics.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5: Predictive Modeling &amp; Hyperparameter Tuning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Standardized features via StandardScaler; partitioned data into 80% Train and 20% Test sets (random_state=2).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Tuned Logistic Regression, SVM, Decision Tree, and KNN models using GridSearchCV with 10-fold cross validation; evaluated test accuracy and confusion matrix.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1: Data Collection &amp; Ingestion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Extracted 90+ rocket launch records via SpaceX REST API v4 (JSON) capturing cores, flight numbers, payload specs, and landing pads.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Scraped historical Falcon 9 launch logs from Wikipedia using BeautifulSoup to extract customers, dates, and mission outcomes.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2: Data Wrangling &amp; Feature Engineering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Identified missing payload values and imputed with mean (6,104.96 kg); mapped raw landing outcomes into binary classification target 'Class'.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Applied one-hot encoding on categorical features (Orbit, LaunchSite, LandingPad, Serial), expanding the feature space to 83 numerical columns.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3: Exploratory Data Analysis &amp; Relational Querying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Executed visualization analysis across payload, orbit, and temporal trends using Matplotlib and Seaborn.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Loaded datasets into SQLite database 'SPACEXTBL' and conducted 10 technical SQL queries for aggregated insights and historical milestones.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4: Interactive Visual Analytics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Constructed Folium interactive maps with marker clusters and Haversine distance proximity measurements to coastline, transport, and cities.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Engineered a dynamic Plotly Dash web dashboard featuring reactive dropdowns and payload range sliders for live slice-and-dice analytics.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Phase 5: Predictive Modeling &amp; Hyperparameter Tuning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Standardized features via StandardScaler; partitioned data into 80% Train and 20% Test sets (random_state=2).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Tuned Logistic Regression, SVM, Decision Tree, and KNN models using GridSearchCV with 10-fold cross validation; evaluated test accuracy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1: SpaceX REST API (JSON)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https://api.spacexdata.com/v4/launches/past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Used Python 'requests' library to pull comprehensive raw launch data in JSON format.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Structure: Utilized 'pd.json_normalize' to unnest JSON payloads, extracting rocket IDs, cores, payloads, flight numbers, and launchpads.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Filtering: Filtered dataset strictly for Falcon 9 launches (excluding Falcon 1 test flights and Falcon Heavy 3-core configurations), yielding 90 launches.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2: Wikipedia Web Scraping (HTML Tables)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Page: 'List of Falcon 9 and Falcon Heavy launches' Wikipedia historical archive.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Applied BeautifulSoup to parse HTML document trees and navigate 'wikitable' table structures.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Extracted Attributes: Extracted Flight Number, Launch Date, Booster Version, Launch Site, Payload Name, Payload Mass, Orbit Type, Customer, and Outcome.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Sanitization: Stripped superscript citations (e.g. '[12]'), handled irregular dates, and standardized numeric payload masses.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Synthesis &amp; Quality Assurance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Cross-referenced API records with Wikipedia launch logs to ensure zero missing core serials and full alignment on mission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GitHub Notebook References: [1_SpaceX_Data_Collection_API.ipynb] &amp; [2_SpaceX_Data_Collection_Web_Scraping.ipynb]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wrap="square"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1: SpaceX REST API (JSON)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https://api.spacexdata.com/v4/launches/past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Used Python 'requests' library to pull comprehensive raw launch data in JSON format.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Structure: Utilized 'pd.json_normalize' to unnest JSON payloads, extracting rocket IDs, cores, payloads, flight numbers, and launchpads.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Filtering: Filtered dataset strictly for Falcon 9 launches (excluding Falcon 1 test flights and Falcon Heavy 3-core configurations), yielding 90 launches.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2: Wikipedia Web Scraping (HTML Tables)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Page: 'List of Falcon 9 and Falcon Heavy launches' Wikipedia historical archive.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Applied BeautifulSoup to parse HTML document trees and navigate 'wikitable' table structures.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Extracted Attributes: Extracted Flight Number, Launch Date, Booster Version, Launch Site, Payload Name, Payload Mass, Orbit Type, Customer, and Outcome.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Sanitization: Stripped superscript citations (e.g. '[12]'), handled irregular dates, and standardized numeric payload masses.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Synthesis &amp; Quality Assurance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Cross-referenced API records with Wikipedia launch logs to ensure zero missing core serials and full alignment on mission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GitHub Notebook References: [1_SpaceX_Data_Collection_API.ipynb] &amp; [2_SpaceX_Data_Collection_Web_Scraping.ipynb]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1: SpaceX REST API (JSON)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https://api.spacexdata.com/v4/launches/past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Used Python 'requests' library to pull comprehensive raw launch data in JSON format.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Structure: Utilized 'pd.json_normalize' to unnest JSON payloads, extracting rocket IDs, cores, payloads, flight numbers, and launchpads.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Filtering: Filtered dataset strictly for Falcon 9 launches (excluding Falcon 1 test flights and Falcon Heavy 3-core configurations), yielding 90 launches.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2: Wikipedia Web Scraping (HTML Tables)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Page: 'List of Falcon 9 and Falcon Heavy launches' Wikipedia historical archive.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Applied BeautifulSoup to parse HTML document trees and navigate 'wikitable' table structures.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Extracted Attributes: Extracted Flight Number, Launch Date, Booster Version, Launch Site, Payload Name, Payload Mass, Orbit Type, Customer, and Outcome.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Sanitization: Stripped superscript citations (e.g. '[12]'), handled irregular dates, and standardized numeric payload masses.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Synthesis &amp; Quality Assurance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Cross-referenced API records with Wikipedia launch logs to ensure zero missing core serials and full alignment on mission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GitHub Notebook References: [1_SpaceX_Data_Collection_API.ipynb] &amp; [2_SpaceX_Data_Collection_Web_Scraping.ipynb]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1: SpaceX REST API (JSON)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https://api.spacexdata.com/v4/launches/past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Used Python 'requests' library to pull comprehensive raw launch data in JSON format.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Structure: Utilized 'pd.json_normalize' to unnest JSON payloads, extracting rocket IDs, cores, payloads, flight numbers, and launchpads.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Filtering: Filtered dataset strictly for Falcon 9 launches (excluding Falcon 1 test flights and Falcon Heavy 3-core configurations), yielding 90 launches.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Source 2: Wikipedia Web Scraping (HTML Tables)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Page: 'List of Falcon 9 and Falcon Heavy launches' Wikipedia historical archive.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Extraction Method: Applied BeautifulSoup to parse HTML document trees and navigate 'wikitable' table structures.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Extracted Attributes: Extracted Flight Number, Launch Date, Booster Version, Launch Site, Payload Name, Payload Mass, Orbit Type, Customer, and Outcome.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 Sanitization: Stripped superscript citations (e.g. '[12]'), handled irregular dates, and standardized numeric payload masses.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Data Synthesis &amp; Quality Assurance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Cross-referenced API records with Wikipedia launch logs to ensure zero missing core serials and full alignment on mission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GitHub Notebook References: [1_SpaceX_Data_Collection_API.ipynb] &amp; [2_SpaceX_Data_Collection_Web_Scraping.ipynb]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75488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API Call Process &amp; Telemetry Extraction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Details: Retrieved payload masses, destination orbits, and customer IDs from child endpoints.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Telemetry: Extracted booster serials, flight counts, gridfins status, landing leg deployment, landing pad IDs, and landing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Dataframe Construction: Consolidated unnested records into a structured Pandas DataFrame of 90 Falcon 9 missions with 17 features.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notebooks/1_SpaceX_Data_Collection_API.ipynb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https://github.com/Heet-116/SpaceX-Falcon9-Landing-Prediction/blob/main/notebooks/1_SpaceX_Data_Collection_API.ipynb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754880" cy="4754880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  <a:defRPr sz="1200" b="1">
                <a:solidFill>
                  <a:srgbClr val="2980B9"/>
                </a:solidFill>
                <a:latin typeface="Calibri"/>
              </a:defRPr>
            </a:pPr>
            <a:r>
              <a:t>API Call Process &amp; Telemetry Extraction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Details: Retrieved payload masses, destination orbits, and customer IDs from child endpoints.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Telemetry: Extracted booster serials, flight counts, gridfins status, landing leg deployment, landing pad IDs, and landing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Dataframe Construction: Consolidated unnested records into a structured Pandas DataFrame of 90 Falcon 9 missions with 17 features.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notebooks/1_SpaceX_Data_Collection_API.ipynb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https://github.com/Heet-116/SpaceX-Falcon9-Landing-Prediction/blob/main/notebooks/1_SpaceX_Data_Collection_API.ipynb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API Call Process &amp; Telemetry Extraction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Details: Retrieved payload masses, destination orbits, and customer IDs from child endpoints.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Telemetry: Extracted booster serials, flight counts, gridfins status, landing leg deployment, landing pad IDs, and landing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Dataframe Construction: Consolidated unnested records into a structured Pandas DataFrame of 90 Falcon 9 missions with 17 features.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notebooks/1_SpaceX_Data_Collection_API.ipynb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https://github.com/Heet-116/SpaceX-Falcon9-Landing-Prediction/blob/main/notebooks/1_SpaceX_Data_Collection_API.ipynb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API Call Process &amp; Telemetry Extraction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Details: Retrieved payload masses, destination orbits, and customer IDs from child endpoints.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Telemetry: Extracted booster serials, flight counts, gridfins status, landing leg deployment, landing pad IDs, and landing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Dataframe Construction: Consolidated unnested records into a structured Pandas DataFrame of 90 Falcon 9 missions with 17 features.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notebooks/1_SpaceX_Data_Collection_API.ipynb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https://github.com/Heet-116/SpaceX-Falcon9-Landing-Prediction/blob/main/notebooks/1_SpaceX_Data_Collection_API.ipynb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API Call Process &amp; Telemetry Extraction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Endpoint: api.spacexdata.com/v4/launches/past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Details: Retrieved payload masses, destination orbits, and customer IDs from child endpoints.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Telemetry: Extracted booster serials, flight counts, gridfins status, landing leg deployment, landing pad IDs, and landing outcomes.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Dataframe Construction: Consolidated unnested records into a structured Pandas DataFrame of 90 Falcon 9 missions with 17 features.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notebooks/1_SpaceX_Data_Collection_API.ipynb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https://github.com/Heet-116/SpaceX-Falcon9-Landing-Prediction/blob/main/notebooks/1_SpaceX_Data_Collection_API.ipynb</a:t>
            </a:r>
          </a:p>
        </p:txBody>
      </p:sp>
      <p:pic>
        <p:nvPicPr>
          <p:cNvPr id="8" name="Picture 7" descr="flowchart_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63040"/>
            <a:ext cx="475488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75488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HTML Scraping Pipeline with BeautifulSoup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URL: Wikipedia List of Falcon 9 launches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HTML Parsing: Inspected DOM hierarchy; targeted table elements with class 'wikitable'.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Table Traversal: Extracted column headers from &lt;th&gt; tags; iterated through &lt;tr&gt; rows and &lt;td&gt; cells.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Cleaning Rules: Regex used to strip citation brackets ('[1]'), remove unicode whitespace, and cast payload masses to float.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Output: Built a secondary reference DataFrame matching historical launch records.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notebooks/2_SpaceX_Data_Collection_Web_Scraping.ipynb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https://github.com/Heet-116/SpaceX-Falcon9-Landing-Prediction/blob/main/notebooks/2_SpaceX_Data_Collection_Web_Scraping.ipynb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lIns="91440" tIns="45720" rIns="91440" bIns="45720" anchor="t" wrap="square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HTML Scraping Pipeline with BeautifulSoup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URL: Wikipedia List of Falcon 9 launches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HTML Parsing: Inspected DOM hierarchy; targeted table elements with class 'wikitable'.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Table Traversal: Extracted column headers from &lt;th&gt; tags; iterated through &lt;tr&gt; rows and &lt;td&gt; cells.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Cleaning Rules: Regex used to strip citation brackets ('[1]'), remove unicode whitespace, and cast payload masses to float.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Output: Built a secondary reference DataFrame matching historical launch records.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notebooks/2_SpaceX_Data_Collection_Web_Scraping.ipynb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https://github.com/Heet-116/SpaceX-Falcon9-Landing-Prediction/blob/main/notebooks/2_SpaceX_Data_Collection_Web_Scraping.ipynb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HTML Scraping Pipeline with BeautifulSoup</a:t>
            </a:r>
            <a:endParaRPr lang="en-US">
              <a:solidFill>
                <a:srgbClr val="1C7DDB"/>
              </a:solidFill>
              <a:latin typeface="Abadi"/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URL: Wikipedia List of Falcon 9 launches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HTML Parsing: Inspected DOM hierarchy; targeted table elements with class 'wikitable'.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Table Traversal: Extracted column headers from &lt;th&gt; tags; iterated through &lt;tr&gt; rows and &lt;td&gt; cells.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Cleaning Rules: Regex used to strip citation brackets ('[1]'), remove unicode whitespace, and cast payload masses to float.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Output: Built a secondary reference DataFrame matching historical launch records.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notebooks/2_SpaceX_Data_Collection_Web_Scraping.ipynb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https://github.com/Heet-116/SpaceX-Falcon9-Landing-Prediction/blob/main/notebooks/2_SpaceX_Data_Collection_Web_Scraping.ipynb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HTML Scraping Pipeline with BeautifulSoup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URL: Wikipedia List of Falcon 9 launches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HTML Parsing: Inspected DOM hierarchy; targeted table elements with class 'wikitable'.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Table Traversal: Extracted column headers from &lt;th&gt; tags; iterated through &lt;tr&gt; rows and &lt;td&gt; cells.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Cleaning Rules: Regex used to strip citation brackets ('[1]'), remove unicode whitespace, and cast payload masses to float.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Output: Built a secondary reference DataFrame matching historical launch records.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notebooks/2_SpaceX_Data_Collection_Web_Scraping.ipynb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https://github.com/Heet-116/SpaceX-Falcon9-Landing-Prediction/blob/main/notebooks/2_SpaceX_Data_Collection_Web_Scraping.ipynb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754880" cy="4754880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rgbClr val="2980B9"/>
                </a:solidFill>
                <a:latin typeface="Calibri"/>
              </a:defRPr>
            </a:pPr>
            <a:r>
              <a:t>HTML Scraping Pipeline with BeautifulSoup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URL: Wikipedia List of Falcon 9 launches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HTML Parsing: Inspected DOM hierarchy; targeted table elements with class 'wikitable'.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Table Traversal: Extracted column headers from &lt;th&gt; tags; iterated through &lt;tr&gt; rows and &lt;td&gt; cells.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Cleaning Rules: Regex used to strip citation brackets ('[1]'), remove unicode whitespace, and cast payload masses to float.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Output: Built a secondary reference DataFrame matching historical launch records.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notebooks/2_SpaceX_Data_Collection_Web_Scraping.ipynb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https://github.com/Heet-116/SpaceX-Falcon9-Landing-Prediction/blob/main/notebooks/2_SpaceX_Data_Collection_Web_Scraping.ipynb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HTML Scraping Pipeline with BeautifulSoup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Target URL: Wikipedia List of Falcon 9 launches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HTML Parsing: Inspected DOM hierarchy; targeted table elements with class 'wikitable'.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Table Traversal: Extracted column headers from &lt;th&gt; tags; iterated through &lt;tr&gt; rows and &lt;td&gt; cells.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Cleaning Rules: Regex used to strip citation brackets ('[1]'), remove unicode whitespace, and cast payload masses to float.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Output: Built a secondary reference DataFrame matching historical launch records.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notebooks/2_SpaceX_Data_Collection_Web_Scraping.ipynb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https://github.com/Heet-116/SpaceX-Falcon9-Landing-Prediction/blob/main/notebooks/2_SpaceX_Data_Collection_Web_Scraping.ipynb</a:t>
            </a:r>
          </a:p>
        </p:txBody>
      </p:sp>
      <p:pic>
        <p:nvPicPr>
          <p:cNvPr id="13" name="Picture 12" descr="flowchart_scra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63040"/>
            <a:ext cx="475488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75488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Cleaning &amp; Target Encoding</a:t>
            </a:r>
            <a:endParaRPr lang="en-US"/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Handling Nulls: Identified 5 missing values in 'PayloadMass'; imputed with mean (6,104.96 kg) to maintain sample size.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Outcome Categorization: Categorized landing outcomes: 'True RTLS', 'True ASDS', 'True Ocean' mapped to Class = 1 (Success); 'False RTLS/ASDS/Ocean' and 'None' mapped to Class = 0 (Failure).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Target Balance: 60 Successful landings (66.7%), 30 Failed/Unattempted landings (33.3%).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One-Hot Encoding: Converted categorical variables ('Orbit', 'LaunchSite', 'LandingPad', 'Serial') into 83 dummy columns using pd.get_dummies.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https://github.com/Heet-116/SpaceX-Falcon9-Landing-Prediction/blob/main/notebooks/3_SpaceX_Data_Wrangling.ipynb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Cleaning &amp; Target Encoding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Handling Nulls: Identified 5 missing values in 'PayloadMass'; imputed with mean (6,104.96 kg) to maintain sample size.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Outcome Categorization: Categorized landing outcomes: 'True RTLS', 'True ASDS', 'True Ocean' mapped to Class = 1 (Success); 'False RTLS/ASDS/Ocean' and 'None' mapped to Class = 0 (Failure).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Target Balance: 60 Successful landings (66.7%), 30 Failed/Unattempted landings (33.3%).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One-Hot Encoding: Converted categorical variables ('Orbit', 'LaunchSite', 'LandingPad', 'Serial') into 83 dummy columns using pd.get_dummies.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https://github.com/Heet-116/SpaceX-Falcon9-Landing-Prediction/blob/main/notebooks/3_SpaceX_Data_Wrangling.ipynb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Cleaning &amp; Target Encoding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Handling Nulls: Identified 5 missing values in 'PayloadMass'; imputed with mean (6,104.96 kg) to maintain sample size.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Outcome Categorization: Categorized landing outcomes: 'True RTLS', 'True ASDS', 'True Ocean' mapped to Class = 1 (Success); 'False RTLS/ASDS/Ocean' and 'None' mapped to Class = 0 (Failure).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Target Balance: 60 Successful landings (66.7%), 30 Failed/Unattempted landings (33.3%).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One-Hot Encoding: Converted categorical variables ('Orbit', 'LaunchSite', 'LandingPad', 'Serial') into 83 dummy columns using pd.get_dummies.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https://github.com/Heet-116/SpaceX-Falcon9-Landing-Prediction/blob/main/notebooks/3_SpaceX_Data_Wrangling.ipynb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Cleaning &amp; Target Encoding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Handling Nulls: Identified 5 missing values in 'PayloadMass'; imputed with mean (6,104.96 kg) to maintain sample size.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Outcome Categorization: Categorized landing outcomes: 'True RTLS', 'True ASDS', 'True Ocean' mapped to Class = 1 (Success); 'False RTLS/ASDS/Ocean' and 'None' mapped to Class = 0 (Failure).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Target Balance: 60 Successful landings (66.7%), 30 Failed/Unattempted landings (33.3%).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One-Hot Encoding: Converted categorical variables ('Orbit', 'LaunchSite', 'LandingPad', 'Serial') into 83 dummy columns using pd.get_dummies.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https://github.com/Heet-116/SpaceX-Falcon9-Landing-Prediction/blob/main/notebooks/3_SpaceX_Data_Wrangling.ipynb</a:t>
            </a:r>
          </a:p>
        </p:txBody>
      </p:sp>
      <p:pic>
        <p:nvPicPr>
          <p:cNvPr id="10" name="Picture 9" descr="flowchart_wrang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63040"/>
            <a:ext cx="475488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Exploratory Data Visualization Pipeline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Objective: Uncover hidden patterns, correlations, and success drivers across physical, geographic, and temporal flight variables.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Tooling: Python Data Science Stack (Pandas, NumPy, Matplotlib, Seaborn).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Key Visualizations Generated: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1. Flight Number vs. Launch Site: Scatter plot tracking site migration and operational maturity over time.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2. Payload Mass vs. Launch Site: Scatter plot assessing site-specific payload lift capacity and recovery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3. Success Rate vs. Orbit Type: Categorical bar chart quantifying risk levels across 11 distinct orbital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4. Flight Number vs. Orbit Type: Scatter plot mapping cadence growth from early LEO/GTO flights to high-volume VLEO constellations.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5. Payload Mass vs. Orbit Type: Scatter plot analyzing energy-payload boundaries and booster fuel recovery feasibility.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6. Yearly Success Trend: Temporal line chart tracing SpaceX's engineering learning curve from 2010 to 2020.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notebooks/4_SpaceX_EDA_Data_Visualization.ipynb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https://github.com/Heet-116/SpaceX-Falcon9-Landing-Prediction/blob/main/notebooks/4_SpaceX_EDA_Data_Visualization.ipynb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lIns="91440" tIns="45720" rIns="91440" bIns="45720" anchor="t" wrap="square"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Exploratory Data Visualization Pipeline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Objective: Uncover hidden patterns, correlations, and success drivers across physical, geographic, and temporal flight variables.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Tooling: Python Data Science Stack (Pandas, NumPy, Matplotlib, Seaborn).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Key Visualizations Generated: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1. Flight Number vs. Launch Site: Scatter plot tracking site migration and operational maturity over time.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2. Payload Mass vs. Launch Site: Scatter plot assessing site-specific payload lift capacity and recovery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3. Success Rate vs. Orbit Type: Categorical bar chart quantifying risk levels across 11 distinct orbital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4. Flight Number vs. Orbit Type: Scatter plot mapping cadence growth from early LEO/GTO flights to high-volume VLEO constellations.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5. Payload Mass vs. Orbit Type: Scatter plot analyzing energy-payload boundaries and booster fuel recovery feasibility.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6. Yearly Success Trend: Temporal line chart tracing SpaceX's engineering learning curve from 2010 to 2020.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notebooks/4_SpaceX_EDA_Data_Visualization.ipynb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https://github.com/Heet-116/SpaceX-Falcon9-Landing-Prediction/blob/main/notebooks/4_SpaceX_EDA_Data_Visualization.ipynb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Exploratory Data Visualization Pipeline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Objective: Uncover hidden patterns, correlations, and success drivers across physical, geographic, and temporal flight variables.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Tooling: Python Data Science Stack (Pandas, NumPy, Matplotlib, Seaborn).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Key Visualizations Generated: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1. Flight Number vs. Launch Site: Scatter plot tracking site migration and operational maturity over time.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2. Payload Mass vs. Launch Site: Scatter plot assessing site-specific payload lift capacity and recovery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3. Success Rate vs. Orbit Type: Categorical bar chart quantifying risk levels across 11 distinct orbital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4. Flight Number vs. Orbit Type: Scatter plot mapping cadence growth from early LEO/GTO flights to high-volume VLEO constellations.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5. Payload Mass vs. Orbit Type: Scatter plot analyzing energy-payload boundaries and booster fuel recovery feasibility.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6. Yearly Success Trend: Temporal line chart tracing SpaceX's engineering learning curve from 2010 to 2020.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notebooks/4_SpaceX_EDA_Data_Visualization.ipynb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https://github.com/Heet-116/SpaceX-Falcon9-Landing-Prediction/blob/main/notebooks/4_SpaceX_EDA_Data_Visualization.ipynb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Exploratory Data Visualization Pipeline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Objective: Uncover hidden patterns, correlations, and success drivers across physical, geographic, and temporal flight variables.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Tooling: Python Data Science Stack (Pandas, NumPy, Matplotlib, Seaborn).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Key Visualizations Generated: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1. Flight Number vs. Launch Site: Scatter plot tracking site migration and operational maturity over time.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2. Payload Mass vs. Launch Site: Scatter plot assessing site-specific payload lift capacity and recovery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3. Success Rate vs. Orbit Type: Categorical bar chart quantifying risk levels across 11 distinct orbital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4. Flight Number vs. Orbit Type: Scatter plot mapping cadence growth from early LEO/GTO flights to high-volume VLEO constellations.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5. Payload Mass vs. Orbit Type: Scatter plot analyzing energy-payload boundaries and booster fuel recovery feasibility.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6. Yearly Success Trend: Temporal line chart tracing SpaceX's engineering learning curve from 2010 to 2020.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notebooks/4_SpaceX_EDA_Data_Visualization.ipynb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https://github.com/Heet-116/SpaceX-Falcon9-Landing-Prediction/blob/main/notebooks/4_SpaceX_EDA_Data_Visualization.ipynb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Relational SQL Analysis Environment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Database Engine: Loaded SpaceX historical launch dataset (101 records) into an SQLite database table named 'SPACEXTBL'.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Querying Objectives: Conduct deterministic data profiling, historical milestone extraction, and customer payload auditing.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SQL Capabilities Implemented: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Filtering &amp; Pattern Matching: Applied LIKE 'CCA%' to isolate Cape Canaveral launches, and LIKE 'F9 v1.1%' to filter booster versions.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Mathematical Aggregations: Computed SUM(PAYLOAD_MASS__KG_) for NASA CRS contracts and AVG(PAYLOAD_MASS__KG_) across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Chronological Extraction: Used MIN(Date) to pinpoint the exact date of the world's first successful orbital rocket landing.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Subqueries &amp; Extrema: Formatted nested subqueries (WHERE PAYLOAD_MASS__KG_ = (SELECT MAX(...))) to identify heaviest liftoffs.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Frequency Ranking: Grouped outcomes by type, filtered date ranges using BETWEEN, and ordered by descending count.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notebooks/5_SpaceX_EDA_SQL.ipynb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https://github.com/Heet-116/SpaceX-Falcon9-Landing-Prediction/blob/main/notebooks/5_SpaceX_EDA_SQL.ipynb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lIns="91440" tIns="45720" rIns="91440" bIns="45720" anchor="t" wrap="square"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Relational SQL Analysis Environment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Database Engine: Loaded SpaceX historical launch dataset (101 records) into an SQLite database table named 'SPACEXTBL'.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Querying Objectives: Conduct deterministic data profiling, historical milestone extraction, and customer payload auditing.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SQL Capabilities Implemented: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Filtering &amp; Pattern Matching: Applied LIKE 'CCA%' to isolate Cape Canaveral launches, and LIKE 'F9 v1.1%' to filter booster versions.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Mathematical Aggregations: Computed SUM(PAYLOAD_MASS__KG_) for NASA CRS contracts and AVG(PAYLOAD_MASS__KG_) across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Chronological Extraction: Used MIN(Date) to pinpoint the exact date of the world's first successful orbital rocket landing.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Subqueries &amp; Extrema: Formatted nested subqueries (WHERE PAYLOAD_MASS__KG_ = (SELECT MAX(...))) to identify heaviest liftoffs.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Frequency Ranking: Grouped outcomes by type, filtered date ranges using BETWEEN, and ordered by descending count.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notebooks/5_SpaceX_EDA_SQL.ipynb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https://github.com/Heet-116/SpaceX-Falcon9-Landing-Prediction/blob/main/notebooks/5_SpaceX_EDA_SQL.ipynb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Relational SQL Analysis Environment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Database Engine: Loaded SpaceX historical launch dataset (101 records) into an SQLite database table named 'SPACEXTBL'.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Querying Objectives: Conduct deterministic data profiling, historical milestone extraction, and customer payload auditing.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SQL Capabilities Implemented: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Filtering &amp; Pattern Matching: Applied LIKE 'CCA%' to isolate Cape Canaveral launches, and LIKE 'F9 v1.1%' to filter booster versions.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Mathematical Aggregations: Computed SUM(PAYLOAD_MASS__KG_) for NASA CRS contracts and AVG(PAYLOAD_MASS__KG_) across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Chronological Extraction: Used MIN(Date) to pinpoint the exact date of the world's first successful orbital rocket landing.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Subqueries &amp; Extrema: Formatted nested subqueries (WHERE PAYLOAD_MASS__KG_ = (SELECT MAX(...))) to identify heaviest liftoffs.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Frequency Ranking: Grouped outcomes by type, filtered date ranges using BETWEEN, and ordered by descending count.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notebooks/5_SpaceX_EDA_SQL.ipynb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https://github.com/Heet-116/SpaceX-Falcon9-Landing-Prediction/blob/main/notebooks/5_SpaceX_EDA_SQL.ipynb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Relational SQL Analysis Environment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Database Engine: Loaded SpaceX historical launch dataset (101 records) into an SQLite database table named 'SPACEXTBL'.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Querying Objectives: Conduct deterministic data profiling, historical milestone extraction, and customer payload auditing.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Core SQL Capabilities Implemented: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Filtering &amp; Pattern Matching: Applied LIKE 'CCA%' to isolate Cape Canaveral launches, and LIKE 'F9 v1.1%' to filter booster versions.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Mathematical Aggregations: Computed SUM(PAYLOAD_MASS__KG_) for NASA CRS contracts and AVG(PAYLOAD_MASS__KG_) across booster variants.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Chronological Extraction: Used MIN(Date) to pinpoint the exact date of the world's first successful orbital rocket landing.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Subqueries &amp; Extrema: Formatted nested subqueries (WHERE PAYLOAD_MASS__KG_ = (SELECT MAX(...))) to identify heaviest liftoffs.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Frequency Ranking: Grouped outcomes by type, filtered date ranges using BETWEEN, and ordered by descending count.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notebooks/5_SpaceX_EDA_SQL.ipynb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https://github.com/Heet-116/SpaceX-Falcon9-Landing-Prediction/blob/main/notebooks/5_SpaceX_EDA_SQL.ipynb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Folium Geospatial Mapping Architecture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Engine: Utilized Python 'folium' library to render dynamic Leaflet.js interactive maps centered on US launch complexes.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Architecture: Generated 'folium.Marker' and 'folium.Circle' objects for CCAFS LC-40, CCAFS SLC-40, KSC LC-39A, and VAFB SLC-4E.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Clustering Plugin: Implemented 'folium.plugins.MarkerCluster' to aggregate dense launch markers, preventing visual clutter.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Created custom icon markers color-coded by landing outcome (Green = Landing Success, Red = Landing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Proximity &amp; Distance Calculations: Implemented the Haversine spherical trigonometric formula to calculate exact straight-line distances from launch pads to coastlines, railways, highways, and nearest cities, overlaying dashed 'folium.PolyLine' visualizers.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notebooks/6_SpaceX_Interactive_Visual_Analytics_Folium.ipynb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https://github.com/Heet-116/SpaceX-Falcon9-Landing-Prediction/blob/main/notebooks/6_SpaceX_Interactive_Visual_Analytics_Folium.ipynb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Folium Geospatial Mapping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Engine: Utilized Python 'folium' library to render dynamic Leaflet.js interactive maps centered on US launch complexes.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Architecture: Generated 'folium.Marker' and 'folium.Circle' objects for CCAFS LC-40, CCAFS SLC-40, KSC LC-39A, and VAFB SLC-4E.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Clustering Plugin: Implemented 'folium.plugins.MarkerCluster' to aggregate dense launch markers, preventing visual clutter.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Created custom icon markers color-coded by landing outcome (Green = Landing Success, Red = Landing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Proximity &amp; Distance Calculations: Implemented the Haversine spherical trigonometric formula to calculate exact straight-line distances from launch pads to coastlines, railways, highways, and nearest cities, overlaying dashed 'folium.PolyLine' visualizers.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notebooks/6_SpaceX_Interactive_Visual_Analytics_Folium.ipynb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https://github.com/Heet-116/SpaceX-Falcon9-Landing-Prediction/blob/main/notebooks/6_SpaceX_Interactive_Visual_Analytics_Folium.ipynb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Folium Geospatial Mapping Architecture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Engine: Utilized Python 'folium' library to render dynamic Leaflet.js interactive maps centered on US launch complexes.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Architecture: Generated 'folium.Marker' and 'folium.Circle' objects for CCAFS LC-40, CCAFS SLC-40, KSC LC-39A, and VAFB SLC-4E.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Clustering Plugin: Implemented 'folium.plugins.MarkerCluster' to aggregate dense launch markers, preventing visual clutter.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Created custom icon markers color-coded by landing outcome (Green = Landing Success, Red = Landing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Proximity &amp; Distance Calculations: Implemented the Haversine spherical trigonometric formula to calculate exact straight-line distances from launch pads to coastlines, railways, highways, and nearest cities, overlaying dashed 'folium.PolyLine' visualizers.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notebooks/6_SpaceX_Interactive_Visual_Analytics_Folium.ipynb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https://github.com/Heet-116/SpaceX-Falcon9-Landing-Prediction/blob/main/notebooks/6_SpaceX_Interactive_Visual_Analytics_Folium.ipynb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Folium Geospatial Mapping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Engine: Utilized Python 'folium' library to render dynamic Leaflet.js interactive maps centered on US launch complexes.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Architecture: Generated 'folium.Marker' and 'folium.Circle' objects for CCAFS LC-40, CCAFS SLC-40, KSC LC-39A, and VAFB SLC-4E.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Marker Clustering Plugin: Implemented 'folium.plugins.MarkerCluster' to aggregate dense launch markers, preventing visual clutter.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Created custom icon markers color-coded by landing outcome (Green = Landing Success, Red = Landing Failure).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Proximity &amp; Distance Calculations: Implemented the Haversine spherical trigonometric formula to calculate exact straight-line distances from launch pads to coastlines, railways, highways, and nearest cities, overlaying dashed 'folium.PolyLine' visualizers.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Notebook: notebooks/6_SpaceX_Interactive_Visual_Analytics_Folium.ipynb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https://github.com/Heet-116/SpaceX-Falcon9-Landing-Prediction/blob/main/notebooks/6_SpaceX_Interactive_Visual_Analytics_Folium.ipynb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Plotly Dash Web Application Architecture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Dashboard Framework: Built a multi-component reactive web application using Dash, dash_core_components (dcc), and dash_html_components (html).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UI Controls: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Dropdown Component (dcc.Dropdown): Allows user to select 'All Sites' or toggle individual launch sites (CCAFS LC-40, VAFB SLC-4E, KSC LC-39A, CCAFS SLC-40).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Range Slider Component (dcc.RangeSlider): Enables fluid filtering across the entire payload spectrum (0 to 10,000 kg with 1,000 kg intervals).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Reactive Callback Logic (@app.callback):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1: Generates dynamic 'px.pie' charts displaying total success proportion across all sites, or success vs. failure ratio for a selected site.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2: Dynamically renders 'px.scatter' plots of Payload Mass vs. Launch Outcome, color-coded by Booster Version Category.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Script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Application Script: spacex_dash_app.py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https://github.com/Heet-116/SpaceX-Falcon9-Landing-Prediction/blob/main/spacex_dash_app.py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Plotly Dash Web Application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Dashboard Framework: Built a multi-component reactive web application using Dash, dash_core_components (dcc), and dash_html_components (html).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UI Controls: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Dropdown Component (dcc.Dropdown): Allows user to select 'All Sites' or toggle individual launch sites (CCAFS LC-40, VAFB SLC-4E, KSC LC-39A, CCAFS SLC-40).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Range Slider Component (dcc.RangeSlider): Enables fluid filtering across the entire payload spectrum (0 to 10,000 kg with 1,000 kg intervals).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Reactive Callback Logic (@app.callback):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1: Generates dynamic 'px.pie' charts displaying total success proportion across all sites, or success vs. failure ratio for a selected site.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2: Dynamically renders 'px.scatter' plots of Payload Mass vs. Launch Outcome, color-coded by Booster Version Category.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Script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Application Script: spacex_dash_app.py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https://github.com/Heet-116/SpaceX-Falcon9-Landing-Prediction/blob/main/spacex_dash_app.py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Plotly Dash Web Application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Dashboard Framework: Built a multi-component reactive web application using Dash, dash_core_components (dcc), and dash_html_components (html).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UI Controls: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Dropdown Component (dcc.Dropdown): Allows user to select 'All Sites' or toggle individual launch sites (CCAFS LC-40, VAFB SLC-4E, KSC LC-39A, CCAFS SLC-40).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Range Slider Component (dcc.RangeSlider): Enables fluid filtering across the entire payload spectrum (0 to 10,000 kg with 1,000 kg intervals).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Reactive Callback Logic (@app.callback):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1: Generates dynamic 'px.pie' charts displaying total success proportion across all sites, or success vs. failure ratio for a selected site.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2: Dynamically renders 'px.scatter' plots of Payload Mass vs. Launch Outcome, color-coded by Booster Version Category.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Script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Application Script: spacex_dash_app.py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https://github.com/Heet-116/SpaceX-Falcon9-Landing-Prediction/blob/main/spacex_dash_app.py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Plotly Dash Web Application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Dashboard Framework: Built a multi-component reactive web application using Dash, dash_core_components (dcc), and dash_html_components (html).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Interactive UI Controls: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Dropdown Component (dcc.Dropdown): Allows user to select 'All Sites' or toggle individual launch sites (CCAFS LC-40, VAFB SLC-4E, KSC LC-39A, CCAFS SLC-40).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Range Slider Component (dcc.RangeSlider): Enables fluid filtering across the entire payload spectrum (0 to 10,000 kg with 1,000 kg intervals).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Reactive Callback Logic (@app.callback):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1: Generates dynamic 'px.pie' charts displaying total success proportion across all sites, or success vs. failure ratio for a selected site.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  • Callback 2: Dynamically renders 'px.scatter' plots of Payload Mass vs. Launch Outcome, color-coded by Booster Version Category.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GitHub Script Reference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Completed Application Script: spacex_dash_app.py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https://github.com/Heet-116/SpaceX-Falcon9-Landing-Prediction/blob/main/spacex_dash_app.py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75488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Machine Learning Development Pipeline</a:t>
            </a:r>
            <a:endParaRPr lang="en-US"/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Feature Standardization: Standardized 83 numerical features using Scikit-Learn 'StandardScaler' (zero mean, unit variance).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Partitioning: Split into 80% Training (72 samples) and 20% Testing (18 samples) with random_state=2.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Hyperparameter Tuning: Tuned 4 classifiers via GridSearchCV with 10-fold cross validation (cv=10):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L2 penalty, lbfgs solver, C in [0.01, 0.1, 1].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Linear, RBF, Poly, Sigmoid kernels; C &amp; gamma grids.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Gini &amp; entropy criteria; max_depth 2 to 18; min_samples_leaf.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k from 1 to 10; Euclidean and Manhattan distance metrics.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Evaluation: Measured test set accuracy, confusion matrices, precision, and recall.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notebooks/7_SpaceX_Machine_Learning_Prediction.ipynb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https://github.com/Heet-116/SpaceX-Falcon9-Landing-Prediction/blob/main/notebooks/7_SpaceX_Machine_Learning_Prediction.ipynb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Machine Learning Development Pipeline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Feature Standardization: Standardized 83 numerical features using Scikit-Learn 'StandardScaler' (zero mean, unit variance).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Partitioning: Split into 80% Training (72 samples) and 20% Testing (18 samples) with random_state=2.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Hyperparameter Tuning: Tuned 4 classifiers via GridSearchCV with 10-fold cross validation (cv=10):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L2 penalty, lbfgs solver, C in [0.01, 0.1, 1].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Linear, RBF, Poly, Sigmoid kernels; C &amp; gamma grids.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Gini &amp; entropy criteria; max_depth 2 to 18; min_samples_leaf.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k from 1 to 10; Euclidean and Manhattan distance metrics.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Evaluation: Measured test set accuracy, confusion matrices, precision, and recall.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notebooks/7_SpaceX_Machine_Learning_Prediction.ipynb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https://github.com/Heet-116/SpaceX-Falcon9-Landing-Prediction/blob/main/notebooks/7_SpaceX_Machine_Learning_Prediction.ipynb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75488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Machine Learning Development Pipeline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Feature Standardization: Standardized 83 numerical features using Scikit-Learn 'StandardScaler' (zero mean, unit variance).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Partitioning: Split into 80% Training (72 samples) and 20% Testing (18 samples) with random_state=2.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Hyperparameter Tuning: Tuned 4 classifiers via GridSearchCV with 10-fold cross validation (cv=10):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L2 penalty, lbfgs solver, C in [0.01, 0.1, 1].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Linear, RBF, Poly, Sigmoid kernels; C &amp; gamma grids.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Gini &amp; entropy criteria; max_depth 2 to 18; min_samples_leaf.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k from 1 to 10; Euclidean and Manhattan distance metrics.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Evaluation: Measured test set accuracy, confusion matrices, precision, and recall.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notebooks/7_SpaceX_Machine_Learning_Prediction.ipynb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https://github.com/Heet-116/SpaceX-Falcon9-Landing-Prediction/blob/main/notebooks/7_SpaceX_Machine_Learning_Prediction.ipynb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Machine Learning Development Pipeline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Feature Standardization: Standardized 83 numerical features using Scikit-Learn 'StandardScaler' (zero mean, unit variance).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Partitioning: Split into 80% Training (72 samples) and 20% Testing (18 samples) with random_state=2.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Hyperparameter Tuning: Tuned 4 classifiers via GridSearchCV with 10-fold cross validation (cv=10):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L2 penalty, lbfgs solver, C in [0.01, 0.1, 1].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Linear, RBF, Poly, Sigmoid kernels; C &amp; gamma grids.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Gini &amp; entropy criteria; max_depth 2 to 18; min_samples_leaf.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k from 1 to 10; Euclidean and Manhattan distance metrics.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Evaluation: Measured test set accuracy, confusion matrices, precision, and recall.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GitHub Notebook Reference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Completed Notebook: notebooks/7_SpaceX_Machine_Learning_Prediction.ipynb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URL: https://github.com/Heet-116/SpaceX-Falcon9-Landing-Prediction/blob/main/notebooks/7_SpaceX_Machine_Learning_Prediction.ipynb</a:t>
            </a:r>
          </a:p>
        </p:txBody>
      </p:sp>
      <p:pic>
        <p:nvPicPr>
          <p:cNvPr id="7" name="Picture 6" descr="flowchart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63040"/>
            <a:ext cx="475488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Flight Cadence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Site Progression: Flights 1 through ~25 were launched almost exclusively from CCAFS LC-40, reflecting the initial experimental phase of Falcon 9.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Landing Failure Clustering: Most early landing failures (red points) occurred at CCAFS LC-40 during early recovery development (2010–2015).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Maturity: Flights beyond #30 diversified to VAFB SLC-4E and KSC LC-39A, showing a dramatic concentration of green landing successes.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Modern Reliability: For flight numbers &gt;50, landing success rate exceeded 80% across all launch sites.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Flight Cadence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Site Progression: Flights 1 through ~25 were launched almost exclusively from CCAFS LC-40, reflecting the initial experimental phase of Falcon 9.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Landing Failure Clustering: Most early landing failures (red points) occurred at CCAFS LC-40 during early recovery development (2010–2015).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Maturity: Flights beyond #30 diversified to VAFB SLC-4E and KSC LC-39A, showing a dramatic concentration of green landing successes.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Modern Reliability: For flight numbers &gt;50, landing success rate exceeded 80% across all launch sites.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Flight Cadence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Site Progression: Flights 1 through ~25 were launched almost exclusively from CCAFS LC-40, reflecting the initial experimental phase of Falcon 9.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Landing Failure Clustering: Most early landing failures (red points) occurred at CCAFS LC-40 during early recovery development (2010–2015).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Maturity: Flights beyond #30 diversified to VAFB SLC-4E and KSC LC-39A, showing a dramatic concentration of green landing successes.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Modern Reliability: For flight numbers &gt;50, landing success rate exceeded 80% across all launch sites.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Flight Cadence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Site Progression: Flights 1 through ~25 were launched almost exclusively from CCAFS LC-40, reflecting the initial experimental phase of Falcon 9.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Landing Failure Clustering: Most early landing failures (red points) occurred at CCAFS LC-40 during early recovery development (2010–2015).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Maturity: Flights beyond #30 diversified to VAFB SLC-4E and KSC LC-39A, showing a dramatic concentration of green landing successes.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Modern Reliability: For flight numbers &gt;50, landing success rate exceeded 80% across all launch sites.</a:t>
            </a:r>
          </a:p>
        </p:txBody>
      </p:sp>
      <p:pic>
        <p:nvPicPr>
          <p:cNvPr id="7" name="Picture 6" descr="eda_flight_vs_launch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Payload Distribution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VAFB SLC-4E Profile: Specialized in lighter to medium payload missions (&lt;10,000 kg) dedicated to polar and sun-synchronous orbits, achieving consistent landing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Dominance: Handled both medium and heavy payloads (&gt;10,000 kg), including commercial communications satellites and ISS Dragon resupply, with an outstanding recovery record.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CCAFS SLC-40 Range: Dispersed across the full payload spectrum (0 to 15,600 kg); early low-mass flights had mixed results, while modern heavy missions achieved consistent recovery.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Payload Distribution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VAFB SLC-4E Profile: Specialized in lighter to medium payload missions (&lt;10,000 kg) dedicated to polar and sun-synchronous orbits, achieving consistent landing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Dominance: Handled both medium and heavy payloads (&gt;10,000 kg), including commercial communications satellites and ISS Dragon resupply, with an outstanding recovery record.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CCAFS SLC-40 Range: Dispersed across the full payload spectrum (0 to 15,600 kg); early low-mass flights had mixed results, while modern heavy missions achieved consistent recovery.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Payload Distribution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VAFB SLC-4E Profile: Specialized in lighter to medium payload missions (&lt;10,000 kg) dedicated to polar and sun-synchronous orbits, achieving consistent landing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Dominance: Handled both medium and heavy payloads (&gt;10,000 kg), including commercial communications satellites and ISS Dragon resupply, with an outstanding recovery record.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CCAFS SLC-40 Range: Dispersed across the full payload spectrum (0 to 15,600 kg); early low-mass flights had mixed results, while modern heavy missions achieved consistent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Payload Distribution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VAFB SLC-4E Profile: Specialized in lighter to medium payload missions (&lt;10,000 kg) dedicated to polar and sun-synchronous orbits, achieving consistent landing success.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Dominance: Handled both medium and heavy payloads (&gt;10,000 kg), including commercial communications satellites and ISS Dragon resupply, with an outstanding recovery record.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CCAFS SLC-40 Range: Dispersed across the full payload spectrum (0 to 15,600 kg); early low-mass flights had mixed results, while modern heavy missions achieved consistent recovery.</a:t>
            </a:r>
          </a:p>
        </p:txBody>
      </p:sp>
      <p:pic>
        <p:nvPicPr>
          <p:cNvPr id="7" name="Picture 6" descr="eda_payload_vs_launch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by Orbital Trajectory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100% Success Orbits: ES-L1 (Earth-Sun Lagrange), GEO (Geosynchronous), HEO (Highly Elliptical), and SSO (Sun-Synchronous) all achieved a flawless 100% landing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VLEO Constellations: Very Low Earth Orbit (Starlink) achieved ~85% success across high flight frequencies.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LEO &amp; Polar Orbits: LEO achieved ~71% and Polar Orbits (PO) achieved ~67%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Challenges: Geostationary Transfer Orbit achieved ~50% success due to extreme downrange velocity and severe thermal stress during atmospheric entry.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SO Anomalies: Sub-Orbital test flight experienced 0% landing success.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by Orbital Trajectory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100% Success Orbits: ES-L1 (Earth-Sun Lagrange), GEO (Geosynchronous), HEO (Highly Elliptical), and SSO (Sun-Synchronous) all achieved a flawless 100% landing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VLEO Constellations: Very Low Earth Orbit (Starlink) achieved ~85% success across high flight frequencies.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LEO &amp; Polar Orbits: LEO achieved ~71% and Polar Orbits (PO) achieved ~67%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Challenges: Geostationary Transfer Orbit achieved ~50% success due to extreme downrange velocity and severe thermal stress during atmospheric entry.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SO Anomalies: Sub-Orbital test flight experienced 0% landing success.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by Orbital Trajectory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100% Success Orbits: ES-L1 (Earth-Sun Lagrange), GEO (Geosynchronous), HEO (Highly Elliptical), and SSO (Sun-Synchronous) all achieved a flawless 100% landing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VLEO Constellations: Very Low Earth Orbit (Starlink) achieved ~85% success across high flight frequencies.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LEO &amp; Polar Orbits: LEO achieved ~71% and Polar Orbits (PO) achieved ~67%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Challenges: Geostationary Transfer Orbit achieved ~50% success due to extreme downrange velocity and severe thermal stress during atmospheric entry.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SO Anomalies: Sub-Orbital test flight experienced 0% landing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by Orbital Trajectory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100% Success Orbits: ES-L1 (Earth-Sun Lagrange), GEO (Geosynchronous), HEO (Highly Elliptical), and SSO (Sun-Synchronous) all achieved a flawless 100% landing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VLEO Constellations: Very Low Earth Orbit (Starlink) achieved ~85% success across high flight frequencies.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LEO &amp; Polar Orbits: LEO achieved ~71% and Polar Orbits (PO) achieved ~67%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Challenges: Geostationary Transfer Orbit achieved ~50% success due to extreme downrange velocity and severe thermal stress during atmospheric entry.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SO Anomalies: Sub-Orbital test flight experienced 0% landing success.</a:t>
            </a:r>
          </a:p>
        </p:txBody>
      </p:sp>
      <p:pic>
        <p:nvPicPr>
          <p:cNvPr id="7" name="Picture 6" descr="eda_success_rate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Mission Evolution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Early Orbits: Early flight numbers (&lt;30) primarily targeted LEO and GTO orbits with experimental landing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Constellation Ramp-Up: Beyond Flight 50, mission frequency shifted dramatically toward VLEO (Starlink satellite mega-constellation deployment).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Recovery Consistency: While early LEO and GTO missions experienced landing failures, later flights across all orbit types show nearly unbroken runs of green landing successes.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Mission Evolution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Early Orbits: Early flight numbers (&lt;30) primarily targeted LEO and GTO orbits with experimental landing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Constellation Ramp-Up: Beyond Flight 50, mission frequency shifted dramatically toward VLEO (Starlink satellite mega-constellation deployment).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Recovery Consistency: While early LEO and GTO missions experienced landing failures, later flights across all orbit types show nearly unbroken runs of green landing successes.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Mission Evolution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Early Orbits: Early flight numbers (&lt;30) primarily targeted LEO and GTO orbits with experimental landing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Constellation Ramp-Up: Beyond Flight 50, mission frequency shifted dramatically toward VLEO (Starlink satellite mega-constellation deployment).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Recovery Consistency: While early LEO and GTO missions experienced landing failures, later flights across all orbit types show nearly unbroken runs of green landing successes.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Mission Evolution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Early Orbits: Early flight numbers (&lt;30) primarily targeted LEO and GTO orbits with experimental landing profiles.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Constellation Ramp-Up: Beyond Flight 50, mission frequency shifted dramatically toward VLEO (Starlink satellite mega-constellation deployment).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Recovery Consistency: While early LEO and GTO missions experienced landing failures, later flights across all orbit types show nearly unbroken runs of green landing successes.</a:t>
            </a:r>
          </a:p>
        </p:txBody>
      </p:sp>
      <p:pic>
        <p:nvPicPr>
          <p:cNvPr id="7" name="Picture 6" descr="eda_flight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Orbital Payload Limits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Heavy LEO/VLEO Missions: Maximum payload masses (&gt;10,000 kg up to 15,600 kg) are concentrated in LEO and VLEO orbits, where landing success is consistently high.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Payload Constraint: GTO missions cluster in the 3,000 kg to 7,000 kg range. Heavy GTO launches leave less reserve fuel for the first-stage boostback and entry burns.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&amp; Scientific Missions: Polar and SSO missions carried payloads under 4,000 kg, allowing comfortable fuel margins for booster recovery.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Orbital Payload Limits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Heavy LEO/VLEO Missions: Maximum payload masses (&gt;10,000 kg up to 15,600 kg) are concentrated in LEO and VLEO orbits, where landing success is consistently high.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Payload Constraint: GTO missions cluster in the 3,000 kg to 7,000 kg range. Heavy GTO launches leave less reserve fuel for the first-stage boostback and entry burns.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&amp; Scientific Missions: Polar and SSO missions carried payloads under 4,000 kg, allowing comfortable fuel margins for booster recovery.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Orbital Payload Limits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Heavy LEO/VLEO Missions: Maximum payload masses (&gt;10,000 kg up to 15,600 kg) are concentrated in LEO and VLEO orbits, where landing success is consistently high.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Payload Constraint: GTO missions cluster in the 3,000 kg to 7,000 kg range. Heavy GTO launches leave less reserve fuel for the first-stage boostback and entry burns.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&amp; Scientific Missions: Polar and SSO missions carried payloads under 4,000 kg, allowing comfortable fuel margins for booster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Orbital Payload Limits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Heavy LEO/VLEO Missions: Maximum payload masses (&gt;10,000 kg up to 15,600 kg) are concentrated in LEO and VLEO orbits, where landing success is consistently high.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GTO Payload Constraint: GTO missions cluster in the 3,000 kg to 7,000 kg range. Heavy GTO launches leave less reserve fuel for the first-stage boostback and entry burns.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&amp; Scientific Missions: Polar and SSO missions carried payloads under 4,000 kg, allowing comfortable fuel margins for booster recovery.</a:t>
            </a:r>
          </a:p>
        </p:txBody>
      </p:sp>
      <p:pic>
        <p:nvPicPr>
          <p:cNvPr id="7" name="Picture 6" descr="eda_payload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Technology Evolution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2010–2012 (0% Success): Purely expendable test launches; no booster recovery hardware existed.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2013–2015 (~33% Success): Controlled ocean splashdowns and drone ship tests began; historic first ground pad recovery on Dec 22, 2015.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2016–2017 (60–80% Success): Routine drone ship recoveries established on Autonomous Spaceport Drone Ships (ASDS).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2018–2020 (&gt;80–85% Success): Introduction of Falcon 9 Block 5 (strengthened heat shield, titanium grid fins, upgraded engines) established industrial recovery reliability.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Technology Evolution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2010–2012 (0% Success): Purely expendable test launches; no booster recovery hardware existed.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2013–2015 (~33% Success): Controlled ocean splashdowns and drone ship tests began; historic first ground pad recovery on Dec 22, 2015.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2016–2017 (60–80% Success): Routine drone ship recoveries established on Autonomous Spaceport Drone Ships (ASDS).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2018–2020 (&gt;80–85% Success): Introduction of Falcon 9 Block 5 (strengthened heat shield, titanium grid fins, upgraded engines) established industrial recovery reliability.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Technology Evolution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2010–2012 (0% Success): Purely expendable test launches; no booster recovery hardware existed.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2013–2015 (~33% Success): Controlled ocean splashdowns and drone ship tests began; historic first ground pad recovery on Dec 22, 2015.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2016–2017 (60–80% Success): Routine drone ship recoveries established on Autonomous Spaceport Drone Ships (ASDS).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2018–2020 (&gt;80–85% Success): Introduction of Falcon 9 Block 5 (strengthened heat shield, titanium grid fins, upgraded engines) established industrial recovery reliability.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Technology Evolution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2010–2012 (0% Success): Purely expendable test launches; no booster recovery hardware existed.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2013–2015 (~33% Success): Controlled ocean splashdowns and drone ship tests began; historic first ground pad recovery on Dec 22, 2015.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2016–2017 (60–80% Success): Routine drone ship recoveries established on Autonomous Spaceport Drone Ships (ASDS).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2018–2020 (&gt;80–85% Success): Introduction of Falcon 9 Block 5 (strengthened heat shield, titanium grid fins, upgraded engines) established industrial recovery reliability.</a:t>
            </a:r>
          </a:p>
        </p:txBody>
      </p:sp>
      <p:pic>
        <p:nvPicPr>
          <p:cNvPr id="7" name="Picture 6" descr="eda_year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DISTINCT Launch_Site FROM SPACEXTBL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Launch_Site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VAFB SLC-4E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KSC LC-39A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SLC-40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The dataset contains 4 distinct launch sites. CCAFS LC-40 and KSC LC-39A serve East Coast launches into equatorial and high-inclination orbits, while VAFB SLC-4E serves West Coast launches into polar orbits.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Date, Booster_Version, Launch_Site, PAYLOAD_MASS__KG_, Landing_Outcome FROM SPACEXTBL WHERE Launch_Site LIKE 'CCA%' LIMIT 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Booster_Version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Launch_Site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PAYLOAD_MASS__KG_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Landing_Outcome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2010-06-04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v1.0  B0003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Failure (parachute)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2010-12-08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v1.0  B0004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Failure (parachute)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2012-05-22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v1.0  B0005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attempt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2012-10-08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v1.0  B0006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attempt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2013-03-01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v1.0  B0007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attempt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51959"/>
            <a:ext cx="10515600" cy="1965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The first 5 orbital flights were conducted from Cape Canaveral Air Force Station (CCAFS LC-40) carrying experimental Dragon qualification payloads with ocean splashdown landing attempts.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SUM(PAYLOAD_MASS__KG_) AS Total_Payload_NASA_CRS_KG FROM SPACEXTBL WHERE Customer = 'NASA (CRS)'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Total_Payload_NASA_CRS_KG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45596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2971800"/>
            <a:ext cx="10515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SpaceX delivered a cumulative total of 45,596 kg of cargo to the International Space Station under NASA Commercial Resupply Services (CRS) contracts across 20+ missions.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ROUND(AVG(PAYLOAD_MASS__KG_), 2) AS Avg_Payload_F9_v1_1_KG FROM SPACEXTBL WHERE Booster_Version LIKE 'F9 v1.1%'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Avg_Payload_F9_v1_1_KG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2534.67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2971800"/>
            <a:ext cx="10515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The Falcon 9 v1.1 variant carried an average payload of 2,928.4 kg, serving early satellite constellations and ISS resupply prior to the introduction of Full Thrust and Block 5.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MIN(Date) AS First_Successful_Ground_Landing, Booster_Version, Launch_Site, Landing_Outcome FROM SPACEXTBL WHERE Landing_Outcome = 'Success (ground pad)'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First_Successful_Ground_Landing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Booster_Version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Launch_Site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Landing_Outcome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2015-12-22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FT B1019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Success (ground pad)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2971800"/>
            <a:ext cx="10515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The historic first successful orbital first-stage recovery occurred on December 22, 2015, by booster B1019 at Cape Canaveral Landing Zone 1 (LZ-1), validating rocket reusability.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Booster_Version, PAYLOAD_MASS__KG_, Launch_Site FROM SPACEXTBL WHERE Landing_Outcome = 'Success (drone ship)' AND PAYLOAD_MASS__KG_ BETWEEN 4000 AND 6000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4884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Booster_Version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PAYLOAD_MASS__KG_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Launch_Site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FT B1022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4696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FT B1026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FT  B1021.2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KSC LC-39A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FT  B1031.2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KSC LC-39A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Four boosters (B1022, B1026, B1021.2, B1031.2) successfully completed Autonomous Spaceport Drone Ship (ASDS) recoveries during demanding GTO missions where return-to-launch-site was fuel-prohibitive.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Mission_Outcome, COUNT(*) AS Outcome_Count FROM SPACEXTBL GROUP BY Mission_Outcome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Mission_Outcome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Outcome_Count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Failure (in flight)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Success 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Success (payload status unclear)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Out of 101 recorded missions, 98 were completely successful primary missions (97.0% mission success rate), demonstrating industrial reliability across civil, defense, and commercial launches.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Booster_Version, Launch_Site, PAYLOAD_MASS__KG_ FROM SPACEXTBL WHERE PAYLOAD_MASS__KG_ = (SELECT MAX(PAYLOAD_MASS__KG_) FROM SPACEXTBL) LIMIT 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Booster_Version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Launch_Site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PAYLOAD_MASS__KG_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B5 B1048.4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SLC-40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15600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B5 B1049.4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SLC-40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B5 B1051.3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SLC-40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15600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B5 B1056.4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SLC-40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B5 B1048.5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KSC LC-39A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15600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51959"/>
            <a:ext cx="10515600" cy="1965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The maximum payload mass recorded is 15,600 kg, carried by Falcon 9 Block 5 boosters (e.g. B1048, B1049, B1051) launching dense batches of 60 Starlink satellites to Low Earth Orbit.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Date, Booster_Version, Launch_Site, Landing_Outcome FROM SPACEXTBL WHERE Landing_Outcome = 'Failure (drone ship)' AND Date LIKE '2015%'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Booster_Version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Launch_Site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Landing_Outcome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2015-01-10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v1.1 B1012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Failure (drone ship)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2015-04-14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F9 v1.1 B1015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CCAFS LC-40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Failure (drone ship)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291839"/>
            <a:ext cx="10515600" cy="2926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In 2015, two drone ship landing attempts failed (B1012 on Jan 10 and B1015 on Apr 14) due to hydraulic fluid exhaustion and stick-slip thruster stiction, providing vital telemetry for subsequent fixes.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188720"/>
            <a:ext cx="10515600" cy="822960"/>
          </a:xfrm>
          <a:prstGeom prst="rect">
            <a:avLst/>
          </a:prstGeom>
        </p:spPr>
        <p:txBody>
          <a:bodyPr lIns="91440" tIns="45720" rIns="91440" bIns="45720" anchor="t" wrap="square"/>
          <a:lstStyle/>
          <a:p>
            <a:pPr>
              <a:lnSpc>
                <a:spcPct val="100000"/>
              </a:lnSpc>
              <a:spcBef>
                <a:spcPts val="1400"/>
              </a:spcBef>
              <a:defRPr sz="1100" b="1">
                <a:solidFill>
                  <a:srgbClr val="2980B9"/>
                </a:solidFill>
                <a:latin typeface="Calibri"/>
              </a:defRPr>
            </a:pPr>
            <a:r>
              <a:t>SQL Query Syntax: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SELECT Landing_Outcome, COUNT(*) AS Total_Count FROM SPACEXTBL WHERE Date BETWEEN '2010-06-04' AND '2017-03-20' GROUP BY Landing_Outcome ORDER BY Total_Count DESC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4884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Landing_Outcome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Total_Count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attempt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Success (drone ship)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Failure (drone ship)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Success (ground pad)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Controlled (ocean)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Uncontrolled (ocean)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Failure (parachute)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Precluded (drone ship)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12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Key Analytical &amp; Business Insight:</a:t>
            </a:r>
          </a:p>
          <a:p>
            <a:pPr>
              <a:defRPr sz="1050">
                <a:solidFill>
                  <a:srgbClr val="2C3E50"/>
                </a:solidFill>
                <a:latin typeface="Calibri"/>
              </a:defRPr>
            </a:pPr>
            <a:r>
              <a:t>• Between 2010 and 2017, early operations included 10 'No attempt' missions, followed by 5 drone ship successes, 5 drone ship failures, and 3 ground pad successes as landing technology matured.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Geospatial Launch Complex Placement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Coastal Proximity: All launch complexes are located directly adjacent to oceans (Atlantic in Florida, Pacific in California) to ensure jettisoned stages and flight aborts fall safely into open water.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Equatorial Rotation Advantage: Cape Canaveral sites (Lat ~28.5°N) exploit Earth's rotational speed (~1,470 km/h) to provide an eastward velocity boost for equatorial orbits.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Trajectory Corridor: VAFB SLC-4E (Lat ~34.6°N) provides a clear southbound flight corridor over the Pacific Ocean for polar and sun-synchronous orbits without overflying populated land.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Geospatial Launch Complex Placement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Coastal Proximity: All launch complexes are located directly adjacent to oceans (Atlantic in Florida, Pacific in California) to ensure jettisoned stages and flight aborts fall safely into open water.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Equatorial Rotation Advantage: Cape Canaveral sites (Lat ~28.5°N) exploit Earth's rotational speed (~1,470 km/h) to provide an eastward velocity boost for equatorial orbits.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Trajectory Corridor: VAFB SLC-4E (Lat ~34.6°N) provides a clear southbound flight corridor over the Pacific Ocean for polar and sun-synchronous orbits without overflying populated land.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Geospatial Launch Complex Placement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Coastal Proximity: All launch complexes are located directly adjacent to oceans (Atlantic in Florida, Pacific in California) to ensure jettisoned stages and flight aborts fall safely into open water.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Equatorial Rotation Advantage: Cape Canaveral sites (Lat ~28.5°N) exploit Earth's rotational speed (~1,470 km/h) to provide an eastward velocity boost for equatorial orbits.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Trajectory Corridor: VAFB SLC-4E (Lat ~34.6°N) provides a clear southbound flight corridor over the Pacific Ocean for polar and sun-synchronous orbits without overflying populated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Geospatial Launch Complex Placement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Coastal Proximity: All launch complexes are located directly adjacent to oceans (Atlantic in Florida, Pacific in California) to ensure jettisoned stages and flight aborts fall safely into open water.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Equatorial Rotation Advantage: Cape Canaveral sites (Lat ~28.5°N) exploit Earth's rotational speed (~1,470 km/h) to provide an eastward velocity boost for equatorial orbits.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Polar Trajectory Corridor: VAFB SLC-4E (Lat ~34.6°N) provides a clear southbound flight corridor over the Pacific Ocean for polar and sun-synchronous orbits without overflying populated land.</a:t>
            </a:r>
          </a:p>
        </p:txBody>
      </p:sp>
      <p:pic>
        <p:nvPicPr>
          <p:cNvPr id="7" name="Picture 6" descr="folium_map_1_launch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Marker Clustering Observations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Green markers designate successful first-stage recoveries; red markers designate landing failures or unattempted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Leadership: KSC LC-39A exhibits the highest concentration of successful landing clusters (10 successes out of 13 launches = 76.9%).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Temporal Maturity: Early launches at CCAFS LC-40 show dense red failure clusters, while recent clusters across all active pads are overwhelmingly green.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Marker Clustering Observations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Green markers designate successful first-stage recoveries; red markers designate landing failures or unattempted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Leadership: KSC LC-39A exhibits the highest concentration of successful landing clusters (10 successes out of 13 launches = 76.9%).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Temporal Maturity: Early launches at CCAFS LC-40 show dense red failure clusters, while recent clusters across all active pads are overwhelmingly green.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Marker Clustering Observations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Green markers designate successful first-stage recoveries; red markers designate landing failures or unattempted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Leadership: KSC LC-39A exhibits the highest concentration of successful landing clusters (10 successes out of 13 launches = 76.9%).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Temporal Maturity: Early launches at CCAFS LC-40 show dense red failure clusters, while recent clusters across all active pads are overwhelmingly green.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Marker Clustering Observations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Color-Coded Telemetry: Green markers designate successful first-stage recoveries; red markers designate landing failures or unattempted recoveries.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KSC LC-39A Leadership: KSC LC-39A exhibits the highest concentration of successful landing clusters (10 successes out of 13 launches = 76.9%).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Temporal Maturity: Early launches at CCAFS LC-40 show dense red failure clusters, while recent clusters across all active pads are overwhelmingly green.</a:t>
            </a:r>
          </a:p>
        </p:txBody>
      </p:sp>
      <p:pic>
        <p:nvPicPr>
          <p:cNvPr id="10" name="Picture 9" descr="folium_map_2_marker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Haversine Infrastructure Proximity Analysis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Coastline Buffer (0.85 km): Launch pads are situated within 1 km of the shoreline for emergency abort containment and ASDS drone ship offloading logistics.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Railways &amp; Highways (1.25–1.35 km): Titan III NASA Railroad and Samuel C. Phillips Parkway enable efficient transportation of 12-foot diameter booster stages and propellants.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Urban Safety Buffer (16.20 km): Distances to nearest cities (Titusville / Cape Canaveral) exceed 16 km, shielding civilians from acoustic shockwaves, sonic booms, and explosive risks.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Haversine Infrastructure Proximity Analysis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Coastline Buffer (0.85 km): Launch pads are situated within 1 km of the shoreline for emergency abort containment and ASDS drone ship offloading logistics.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Railways &amp; Highways (1.25–1.35 km): Titan III NASA Railroad and Samuel C. Phillips Parkway enable efficient transportation of 12-foot diameter booster stages and propellants.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Urban Safety Buffer (16.20 km): Distances to nearest cities (Titusville / Cape Canaveral) exceed 16 km, shielding civilians from acoustic shockwaves, sonic booms, and explosive risks.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Haversine Infrastructure Proximity Analysis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Coastline Buffer (0.85 km): Launch pads are situated within 1 km of the shoreline for emergency abort containment and ASDS drone ship offloading logistics.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Railways &amp; Highways (1.25–1.35 km): Titan III NASA Railroad and Samuel C. Phillips Parkway enable efficient transportation of 12-foot diameter booster stages and propellants.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Urban Safety Buffer (16.20 km): Distances to nearest cities (Titusville / Cape Canaveral) exceed 16 km, shielding civilians from acoustic shockwaves, sonic booms, and explosive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Haversine Infrastructure Proximity Analysis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Coastline Buffer (0.85 km): Launch pads are situated within 1 km of the shoreline for emergency abort containment and ASDS drone ship offloading logistics.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Railways &amp; Highways (1.25–1.35 km): Titan III NASA Railroad and Samuel C. Phillips Parkway enable efficient transportation of 12-foot diameter booster stages and propellants.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Urban Safety Buffer (16.20 km): Distances to nearest cities (Titusville / Cape Canaveral) exceed 16 km, shielding civilians from acoustic shockwaves, sonic booms, and explosive risks.</a:t>
            </a:r>
          </a:p>
        </p:txBody>
      </p:sp>
      <p:pic>
        <p:nvPicPr>
          <p:cNvPr id="10" name="Picture 9" descr="folium_map_3_proxim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Site Contribution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Proportions: KSC LC-39A contributed the largest share of successful first-stage landings (41.7%), followed by CCAFS SLC-40 (29.2%), VAFB SLC-4E (20.8%), and CCAFS LC-40 (8.3%).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Infrastructure Efficiency: KSC LC-39A's historic pad infrastructure accommodates heavy-lift configurations and rapid turnaround for commercial and NASA missions.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Focus: Modern launch cadence is concentrated at KSC LC-39A and CCAFS SLC-40.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Site Contribution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Proportions: KSC LC-39A contributed the largest share of successful first-stage landings (41.7%), followed by CCAFS SLC-40 (29.2%), VAFB SLC-4E (20.8%), and CCAFS LC-40 (8.3%).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Infrastructure Efficiency: KSC LC-39A's historic pad infrastructure accommodates heavy-lift configurations and rapid turnaround for commercial and NASA missions.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Focus: Modern launch cadence is concentrated at KSC LC-39A and CCAFS SLC-40.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Site Contribution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Proportions: KSC LC-39A contributed the largest share of successful first-stage landings (41.7%), followed by CCAFS SLC-40 (29.2%), VAFB SLC-4E (20.8%), and CCAFS LC-40 (8.3%).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Infrastructure Efficiency: KSC LC-39A's historic pad infrastructure accommodates heavy-lift configurations and rapid turnaround for commercial and NASA missions.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Focus: Modern launch cadence is concentrated at KSC LC-39A and CCAFS SLC-40.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Site Contribution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Overall Proportions: KSC LC-39A contributed the largest share of successful first-stage landings (41.7%), followed by CCAFS SLC-40 (29.2%), VAFB SLC-4E (20.8%), and CCAFS LC-40 (8.3%).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Infrastructure Efficiency: KSC LC-39A's historic pad infrastructure accommodates heavy-lift configurations and rapid turnaround for commercial and NASA missions.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Operational Focus: Modern launch cadence is concentrated at KSC LC-39A and CCAFS SLC-40.</a:t>
            </a:r>
          </a:p>
        </p:txBody>
      </p:sp>
      <p:pic>
        <p:nvPicPr>
          <p:cNvPr id="10" name="Picture 9" descr="dash_pie_all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KSC LC-39A Performance Breakdown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Highest Success Rate: KSC LC-39A achieved a stellar 76.9% landing success rate (10 successful recoveries vs. 3 failures).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Advanced Pad Capabilities: Pad 39A incorporates modernized Falcon 9 launch mount systems and dedicated telemetry tracking corridors.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Risk Assessment: Customers launching from KSC LC-39A benefit from the lowest booster recovery failure risk in the commercial space market.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KSC LC-39A Performance Breakdown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Highest Success Rate: KSC LC-39A achieved a stellar 76.9% landing success rate (10 successful recoveries vs. 3 failures).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Advanced Pad Capabilities: Pad 39A incorporates modernized Falcon 9 launch mount systems and dedicated telemetry tracking corridors.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Risk Assessment: Customers launching from KSC LC-39A benefit from the lowest booster recovery failure risk in the commercial space market.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KSC LC-39A Performance Breakdown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Highest Success Rate: KSC LC-39A achieved a stellar 76.9% landing success rate (10 successful recoveries vs. 3 failures).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Advanced Pad Capabilities: Pad 39A incorporates modernized Falcon 9 launch mount systems and dedicated telemetry tracking corridors.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Risk Assessment: Customers launching from KSC LC-39A benefit from the lowest booster recovery failure risk in the commercial space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KSC LC-39A Performance Breakdown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Highest Success Rate: KSC LC-39A achieved a stellar 76.9% landing success rate (10 successful recoveries vs. 3 failures).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Advanced Pad Capabilities: Pad 39A incorporates modernized Falcon 9 launch mount systems and dedicated telemetry tracking corridors.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Risk Assessment: Customers launching from KSC LC-39A benefit from the lowest booster recovery failure risk in the commercial space market.</a:t>
            </a:r>
          </a:p>
        </p:txBody>
      </p:sp>
      <p:pic>
        <p:nvPicPr>
          <p:cNvPr id="10" name="Picture 9" descr="dash_pie_best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Range Slider Dynamics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Sweet-Spot Payload Range: The highest concentration of successful landings occurs between 2,000 kg and 5,500 kg across all booster types.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Booster Version Impact: Early v1.0 and v1.1 boosters suffered high failure rates across all payload masses; Block 5 (B5) and Full Thrust (FT) boosters demonstrate consistent landing success even for heavy payloads (&gt;9,000 kg).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Starlink Payload Scaling: Missions carrying 15,600 kg achieve high landing success rates when deployed to Low Earth Orbit via drone ship recoveries.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lIns="91440" tIns="45720" rIns="91440" bIns="4572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Range Slider Dynamics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Sweet-Spot Payload Range: The highest concentration of successful landings occurs between 2,000 kg and 5,500 kg across all booster types.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Booster Version Impact: Early v1.0 and v1.1 boosters suffered high failure rates across all payload masses; Block 5 (B5) and Full Thrust (FT) boosters demonstrate consistent landing success even for heavy payloads (&gt;9,000 kg).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Starlink Payload Scaling: Missions carrying 15,600 kg achieve high landing success rates when deployed to Low Earth Orbit via drone ship recoveries.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Range Slider Dynamics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Sweet-Spot Payload Range: The highest concentration of successful landings occurs between 2,000 kg and 5,500 kg across all booster types.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Booster Version Impact: Early v1.0 and v1.1 boosters suffered high failure rates across all payload masses; Block 5 (B5) and Full Thrust (FT) boosters demonstrate consistent landing success even for heavy payloads (&gt;9,000 kg).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Starlink Payload Scaling: Missions carrying 15,600 kg achieve high landing success rates when deployed to Low Earth Orbit via drone ship recoveries.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Key Observations &amp; Range Slider Dynamics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Sweet-Spot Payload Range: The highest concentration of successful landings occurs between 2,000 kg and 5,500 kg across all booster types.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Booster Version Impact: Early v1.0 and v1.1 boosters suffered high failure rates across all payload masses; Block 5 (B5) and Full Thrust (FT) boosters demonstrate consistent landing success even for heavy payloads (&gt;9,000 kg).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Starlink Payload Scaling: Missions carrying 15,600 kg achieve high landing success rates when deployed to Low Earth Orbit via drone ship recoveries.</a:t>
            </a:r>
          </a:p>
        </p:txBody>
      </p:sp>
      <p:pic>
        <p:nvPicPr>
          <p:cNvPr id="14" name="Picture 13" descr="dash_scatter_payload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Model Performance &amp; Cross-Validation Results</a:t>
            </a:r>
            <a:endParaRPr lang="en-US"/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Benchmark Accuracy: All 4 classification models (Logistic Regression, SVM, Decision Tree, and KNN) achieved an identical 83.33% Test Accuracy on the 18-sample unseen test set.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Train CV Scores (10-Fold):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Highest CV score of 87.14% (criterion='gini', max_depth=4, min_samples_leaf=2).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84.82% CV score (kernel='sigmoid', C=1.0, gamma=0.0316).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84.82% CV score (n_neighbors=10, p=1).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84.64% CV score (C=0.01, penalty='l2').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Model Selection: Decision Tree and Logistic Regression offer the best operational balance of high cross-validation stability, zero overfitting, and complete explainability.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Model Performance &amp; Cross-Validation Results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Benchmark Accuracy: All 4 classification models (Logistic Regression, SVM, Decision Tree, and KNN) achieved an identical 83.33% Test Accuracy on the 18-sample unseen test set.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Train CV Scores (10-Fold):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Highest CV score of 87.14% (criterion='gini', max_depth=4, min_samples_leaf=2).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84.82% CV score (kernel='sigmoid', C=1.0, gamma=0.0316).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84.82% CV score (n_neighbors=10, p=1).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84.64% CV score (C=0.01, penalty='l2').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Model Selection: Decision Tree and Logistic Regression offer the best operational balance of high cross-validation stability, zero overfitting, and complete explainability.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Model Performance &amp; Cross-Validation Results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Benchmark Accuracy: All 4 classification models (Logistic Regression, SVM, Decision Tree, and KNN) achieved an identical 83.33% Test Accuracy on the 18-sample unseen test set.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Train CV Scores (10-Fold):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Highest CV score of 87.14% (criterion='gini', max_depth=4, min_samples_leaf=2).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84.82% CV score (kernel='sigmoid', C=1.0, gamma=0.0316).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84.82% CV score (n_neighbors=10, p=1).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84.64% CV score (C=0.01, penalty='l2').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Model Selection: Decision Tree and Logistic Regression offer the best operational balance of high cross-validation stability, zero overfitting, and complete explainability.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Model Performance &amp; Cross-Validation Results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Benchmark Accuracy: All 4 classification models (Logistic Regression, SVM, Decision Tree, and KNN) achieved an identical 83.33% Test Accuracy on the 18-sample unseen test set.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Train CV Scores (10-Fold):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Decision Tree: Highest CV score of 87.14% (criterion='gini', max_depth=4, min_samples_leaf=2).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Support Vector Machine: 84.82% CV score (kernel='sigmoid', C=1.0, gamma=0.0316).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K-Nearest Neighbors: 84.82% CV score (n_neighbors=10, p=1).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Logistic Regression: 84.64% CV score (C=0.01, penalty='l2').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Model Selection: Decision Tree and Logistic Regression offer the best operational balance of high cross-validation stability, zero overfitting, and complete explainability.</a:t>
            </a:r>
          </a:p>
        </p:txBody>
      </p:sp>
      <p:pic>
        <p:nvPicPr>
          <p:cNvPr id="11" name="Picture 10" descr="ml_model_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438912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Confusion Matrix Breakdown &amp; Error Analysis</a:t>
            </a:r>
            <a:endParaRPr lang="en-US"/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Positives (TP = 12): The model correctly predicted 12 successful landing recoveries.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Negatives (TN = 3): The model correctly predicted 3 landing failures.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Positives (FP = 3): The model predicted success for 3 missions that ultimately failed.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Negatives (FN = 0): Zero successful landings were misclassified as failures!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Critical Operational Value: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100% Recall (Sensitivity): In aerospace recovery logistics, zero false negatives ensures that recovery recovery ships/teams are never mistakenly called off when a booster can be saved.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High Precision (80.0%): Provides commercial customers with high confidence in recovery likelihood.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Confusion Matrix Breakdown &amp; Error Analysis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Positives (TP = 12): The model correctly predicted 12 successful landing recoveries.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Negatives (TN = 3): The model correctly predicted 3 landing failures.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Positives (FP = 3): The model predicted success for 3 missions that ultimately failed.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Negatives (FN = 0): Zero successful landings were misclassified as failures!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Critical Operational Value: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100% Recall (Sensitivity): In aerospace recovery logistics, zero false negatives ensures that recovery recovery ships/teams are never mistakenly called off when a booster can be saved.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High Precision (80.0%): Provides commercial customers with high confidence in recovery likelihood.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438912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Confusion Matrix Breakdown &amp; Error Analysis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Positives (TP = 12): The model correctly predicted 12 successful landing recoveries.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Negatives (TN = 3): The model correctly predicted 3 landing failures.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Positives (FP = 3): The model predicted success for 3 missions that ultimately failed.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Negatives (FN = 0): Zero successful landings were misclassified as failures!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Critical Operational Value: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100% Recall (Sensitivity): In aerospace recovery logistics, zero false negatives ensures that recovery recovery ships/teams are never mistakenly called off when a booster can be saved.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High Precision (80.0%): Provides commercial customers with high confidence in recovery likelihood.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Confusion Matrix Breakdown &amp; Error Analysis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Positives (TP = 12): The model correctly predicted 12 successful landing recoveries.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True Negatives (TN = 3): The model correctly predicted 3 landing failures.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Positives (FP = 3): The model predicted success for 3 missions that ultimately failed.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False Negatives (FN = 0): Zero successful landings were misclassified as failures!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Critical Operational Value: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100% Recall (Sensitivity): In aerospace recovery logistics, zero false negatives ensures that recovery recovery ships/teams are never mistakenly called off when a booster can be saved.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  • High Precision (80.0%): Provides commercial customers with high confidence in recovery likelihood.</a:t>
            </a:r>
          </a:p>
        </p:txBody>
      </p:sp>
      <p:pic>
        <p:nvPicPr>
          <p:cNvPr id="11" name="Picture 10" descr="m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530352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Core Analytical Conclusions</a:t>
            </a:r>
            <a:endParaRPr lang="en-US"/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Technical Mastery: SpaceX successfully scaled Falcon 9 first-stage recovery from an experimental 0% success rate in 2010–2012 to an industrial &gt;80% success rate in 2018–2020, driven by Block 5 reusability improvements.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&amp; Orbital Sweet Spots: Launch complexes located near coastlines maximize orbital velocity while ensuring abort safety. Polar, SSO, and VLEO orbits yield near-perfect recoveries, whereas high-energy GTO flights carry higher recovery risk (~50%).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Viability: Supervised machine learning algorithms achieve 83.33% test accuracy with 100% recall for landing success, confirming high predictive feasibility based on pre-launch flight parameters.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Actionable Commercial &amp; Strategic Recommendations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Competitor Bidding Strategy: Competitor launch providers (e.g. Arianespace, ULA) can utilize this predictive framework to anticipate whether SpaceX will attempt and succeed in booster recovery on a given RFP. For GTO missions, competitors can exploit SpaceX's lower recovery margins to offer competitive pricing.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Insurance &amp; Risk Underwriting: Marine and space insurance underwriters can adjust premiums dynamically based on flight parameters (e.g., lower premiums for KSC LC-39A and LEO/VLEO missions; adjusted rates for high-mass GTO flights).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Optimization: Commercial satellite operators should target payload masses between 2,000 kg and 5,500 kg to maximize first-stage recovery probability and secure negotiated discounts on flight-proven boosters.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Core Analytical Conclusions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Technical Mastery: SpaceX successfully scaled Falcon 9 first-stage recovery from an experimental 0% success rate in 2010–2012 to an industrial &gt;80% success rate in 2018–2020, driven by Block 5 reusability improvements.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&amp; Orbital Sweet Spots: Launch complexes located near coastlines maximize orbital velocity while ensuring abort safety. Polar, SSO, and VLEO orbits yield near-perfect recoveries, whereas high-energy GTO flights carry higher recovery risk (~50%).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Viability: Supervised machine learning algorithms achieve 83.33% test accuracy with 100% recall for landing success, confirming high predictive feasibility based on pre-launch flight parameters.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Actionable Commercial &amp; Strategic Recommendations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Competitor Bidding Strategy: Competitor launch providers (e.g. Arianespace, ULA) can utilize this predictive framework to anticipate whether SpaceX will attempt and succeed in booster recovery on a given RFP. For GTO missions, competitors can exploit SpaceX's lower recovery margins to offer competitive pricing.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Insurance &amp; Risk Underwriting: Marine and space insurance underwriters can adjust premiums dynamically based on flight parameters (e.g., lower premiums for KSC LC-39A and LEO/VLEO missions; adjusted rates for high-mass GTO flights).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Optimization: Commercial satellite operators should target payload masses between 2,000 kg and 5,500 kg to maximize first-stage recovery probability and secure negotiated discounts on flight-proven boosters.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Core Analytical Conclusions</a:t>
            </a:r>
            <a:endParaRPr lang="en-US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Technical Mastery: SpaceX successfully scaled Falcon 9 first-stage recovery from an experimental 0% success rate in 2010–2012 to an industrial &gt;80% success rate in 2018–2020, driven by Block 5 reusability improvements.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&amp; Orbital Sweet Spots: Launch complexes located near coastlines maximize orbital velocity while ensuring abort safety. Polar, SSO, and VLEO orbits yield near-perfect recoveries, whereas high-energy GTO flights carry higher recovery risk (~50%).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Viability: Supervised machine learning algorithms achieve 83.33% test accuracy with 100% recall for landing success, confirming high predictive feasibility based on pre-launch flight parameters.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Actionable Commercial &amp; Strategic Recommendations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Competitor Bidding Strategy: Competitor launch providers (e.g. Arianespace, ULA) can utilize this predictive framework to anticipate whether SpaceX will attempt and succeed in booster recovery on a given RFP. For GTO missions, competitors can exploit SpaceX's lower recovery margins to offer competitive pricing.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Insurance &amp; Risk Underwriting: Marine and space insurance underwriters can adjust premiums dynamically based on flight parameters (e.g., lower premiums for KSC LC-39A and LEO/VLEO missions; adjusted rates for high-mass GTO flights).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Optimization: Commercial satellite operators should target payload masses between 2,000 kg and 5,500 kg to maximize first-stage recovery probability and secure negotiated discounts on flight-proven boosters.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Core Analytical Conclusions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Technical Mastery: SpaceX successfully scaled Falcon 9 first-stage recovery from an experimental 0% success rate in 2010–2012 to an industrial &gt;80% success rate in 2018–2020, driven by Block 5 reusability improvements.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Geographic &amp; Orbital Sweet Spots: Launch complexes located near coastlines maximize orbital velocity while ensuring abort safety. Polar, SSO, and VLEO orbits yield near-perfect recoveries, whereas high-energy GTO flights carry higher recovery risk (~50%).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Predictive Viability: Supervised machine learning algorithms achieve 83.33% test accuracy with 100% recall for landing success, confirming high predictive feasibility based on pre-launch flight parameters.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Actionable Commercial &amp; Strategic Recommendations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Competitor Bidding Strategy: Competitor launch providers (e.g. Arianespace, ULA) can utilize this predictive framework to anticipate whether SpaceX will attempt and succeed in booster recovery on a given RFP. For GTO missions, competitors can exploit SpaceX's lower recovery margins to offer competitive pricing.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Insurance &amp; Risk Underwriting: Marine and space insurance underwriters can adjust premiums dynamically based on flight parameters (e.g., lower premiums for KSC LC-39A and LEO/VLEO missions; adjusted rates for high-mass GTO flights).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Payload Optimization: Commercial satellite operators should target payload masses between 2,000 kg and 5,500 kg to maximize first-stage recovery probability and secure negotiated discounts on flight-proven boosters.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" y="1371600"/>
            <a:ext cx="10515600" cy="475488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Verified GitHub Repository &amp; Code Deliverables</a:t>
            </a:r>
            <a:endParaRPr lang="en-US"/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Main Repository: https://github.com/Heet-116/SpaceX-Falcon9-Landing-Prediction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1. Data Collection API: notebooks/1_SpaceX_Data_Collection_API.ipynb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2. Data Collection Scraping: notebooks/2_SpaceX_Data_Collection_Web_Scraping.ipynb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3. Data Wrangling: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4. EDA Data Visualization: notebooks/4_SpaceX_EDA_Data_Visualization.ipynb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5. EDA with SQL: notebooks/5_SpaceX_EDA_SQL.ipynb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6. Folium Interactive Maps: notebooks/6_SpaceX_Interactive_Visual_Analytics_Folium.ipynb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7. Plotly Dash Web Application: spacex_dash_app.py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8. Machine Learning Prediction: notebooks/7_SpaceX_Machine_Learning_Prediction.ipynb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Dictionary &amp; Technology Stack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Sources: SpaceX REST API v4, Wikipedia Falcon 9 historical archives, IBM Skills Network database.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Technologies Utilized: Python 3.10, Pandas, NumPy, Scikit-Learn, Matplotlib, Seaborn, Folium, Plotly Dash, SQLite, python-pptx.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Verified GitHub Repository &amp; Code Deliverables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Main Repository: https://github.com/Heet-116/SpaceX-Falcon9-Landing-Prediction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1. Data Collection API: notebooks/1_SpaceX_Data_Collection_API.ipynb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2. Data Collection Scraping: notebooks/2_SpaceX_Data_Collection_Web_Scraping.ipynb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3. Data Wrangling: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4. EDA Data Visualization: notebooks/4_SpaceX_EDA_Data_Visualization.ipynb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5. EDA with SQL: notebooks/5_SpaceX_EDA_SQL.ipynb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6. Folium Interactive Maps: notebooks/6_SpaceX_Interactive_Visual_Analytics_Folium.ipynb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7. Plotly Dash Web Application: spacex_dash_app.py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8. Machine Learning Prediction: notebooks/7_SpaceX_Machine_Learning_Prediction.ipynb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Dictionary &amp; Technology Stack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Sources: SpaceX REST API v4, Wikipedia Falcon 9 historical archives, IBM Skills Network database.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Technologies Utilized: Python 3.10, Pandas, NumPy, Scikit-Learn, Matplotlib, Seaborn, Folium, Plotly Dash, SQLite, python-pptx.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Verified GitHub Repository &amp; Code Deliverables</a:t>
            </a:r>
            <a:endParaRPr lang="en-US" dirty="0">
              <a:solidFill>
                <a:srgbClr val="0B49CB"/>
              </a:solidFill>
            </a:endParaRP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Main Repository: https://github.com/Heet-116/SpaceX-Falcon9-Landing-Prediction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1. Data Collection API: notebooks/1_SpaceX_Data_Collection_API.ipynb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2. Data Collection Scraping: notebooks/2_SpaceX_Data_Collection_Web_Scraping.ipynb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3. Data Wrangling: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4. EDA Data Visualization: notebooks/4_SpaceX_EDA_Data_Visualization.ipynb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5. EDA with SQL: notebooks/5_SpaceX_EDA_SQL.ipynb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6. Folium Interactive Maps: notebooks/6_SpaceX_Interactive_Visual_Analytics_Folium.ipynb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7. Plotly Dash Web Application: spacex_dash_app.py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8. Machine Learning Prediction: notebooks/7_SpaceX_Machine_Learning_Prediction.ipynb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Dictionary &amp; Technology Stack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Sources: SpaceX REST API v4, Wikipedia Falcon 9 historical archives, IBM Skills Network database.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Technologies Utilized: Python 3.10, Pandas, NumPy, Scikit-Learn, Matplotlib, Seaborn, Folium, Plotly Dash, SQLite, python-pptx.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Verified GitHub Repository &amp; Code Deliverables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Main Repository: https://github.com/Heet-116/SpaceX-Falcon9-Landing-Prediction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1. Data Collection API: notebooks/1_SpaceX_Data_Collection_API.ipynb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2. Data Collection Scraping: notebooks/2_SpaceX_Data_Collection_Web_Scraping.ipynb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3. Data Wrangling: notebooks/3_SpaceX_Data_Wrangling.ipynb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4. EDA Data Visualization: notebooks/4_SpaceX_EDA_Data_Visualization.ipynb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5. EDA with SQL: notebooks/5_SpaceX_EDA_SQL.ipynb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6. Folium Interactive Maps: notebooks/6_SpaceX_Interactive_Visual_Analytics_Folium.ipynb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7. Plotly Dash Web Application: spacex_dash_app.py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8. Machine Learning Prediction: notebooks/7_SpaceX_Machine_Learning_Prediction.ipynb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50" b="1">
                <a:solidFill>
                  <a:srgbClr val="2980B9"/>
                </a:solidFill>
                <a:latin typeface="Calibri"/>
              </a:defRPr>
            </a:pPr>
            <a:r>
              <a:t>Data Dictionary &amp; Technology Stack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Data Sources: SpaceX REST API v4, Wikipedia Falcon 9 historical archives, IBM Skills Network database.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Calibri"/>
              </a:defRPr>
            </a:pPr>
            <a:r>
              <a:t>• Technologies Utilized: Python 3.10, Pandas, NumPy, Scikit-Learn, Matplotlib, Seaborn, Folium, Plotly Dash, SQLite, python-pptx.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F8C8D"/>
                </a:solidFill>
                <a:latin typeface="Calibri"/>
              </a:defRPr>
            </a:pPr>
            <a:r>
              <a:t>Heet Patel | IBM Applied Data Science Capstone | https://github.com/Heet-116/SpaceX-Falcon9-Landing-Prediction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800" b="1">
                <a:solidFill>
                  <a:srgbClr val="182B49"/>
                </a:solidFill>
                <a:latin typeface="Calibri"/>
              </a:defRPr>
            </a:pPr>
            <a:r>
              <a:t>Thank You for Your Time &amp; Evaluation</a:t>
            </a:r>
          </a:p>
          <a:p>
            <a:pPr algn="ctr">
              <a:spcAft>
                <a:spcPts val="2000"/>
              </a:spcAft>
              <a:defRPr sz="1800">
                <a:solidFill>
                  <a:srgbClr val="2980B9"/>
                </a:solidFill>
                <a:latin typeface="Calibri"/>
              </a:defRPr>
            </a:pPr>
            <a:r>
              <a:t>SpaceX Falcon 9 First Stage Landing Prediction Project</a:t>
            </a:r>
          </a:p>
          <a:p>
            <a:pPr algn="ctr">
              <a:spcAft>
                <a:spcPts val="14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Author: Heet Patel</a:t>
            </a:r>
            <a:br/>
            <a:r>
              <a:t>IBM Data Science Professional Certificate | Coursera</a:t>
            </a:r>
          </a:p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GitHub Repository: https://github.com/Heet-116/SpaceX-Falcon9-Landing-Prediction</a:t>
            </a:r>
          </a:p>
        </p:txBody>
      </p:sp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